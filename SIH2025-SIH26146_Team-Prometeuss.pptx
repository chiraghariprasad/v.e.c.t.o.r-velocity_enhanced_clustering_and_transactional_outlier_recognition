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8" r:id="rId5"/>
    <p:sldId id="294" r:id="rId6"/>
    <p:sldId id="296" r:id="rId7"/>
    <p:sldId id="299" r:id="rId13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07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2A7A-6870-E7CA-4036-DB53F6A0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3B70488-5636-1328-9089-38462BACC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AF39793-5A4C-44D2-DA66-D8B0F822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21B8033-6A5F-E125-15F9-E725A3546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49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hyperlink" Target="https://drive.google.com/drive/folders/1SWtxZL7MzU6INdl7gy1XLUNLXh6sz9Dc?usp=sharing" TargetMode="External"/><Relationship Id="rId8" Type="http://schemas.openxmlformats.org/officeDocument/2006/relationships/image" Target="../media/image19.png"/><Relationship Id="rId9" Type="http://schemas.openxmlformats.org/officeDocument/2006/relationships/hyperlink" Target="https://www.youtube.com/watch?v=svLXoek4KbE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3.png"/><Relationship Id="rId12" Type="http://schemas.openxmlformats.org/officeDocument/2006/relationships/hyperlink" Target="https://github.com/vinith0306/V.E.C.T.O.R-Velocity_Enhanced_Clustering_and_Transactional_Outlier_Recognition" TargetMode="External"/><Relationship Id="rId1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68357" y="2646217"/>
            <a:ext cx="2918862" cy="3121799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581" y="2506340"/>
            <a:ext cx="592455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SIH26146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Monitoring &amp; Analysis of Bitcoin Transaction Traffic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&amp; Cybersecurity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- 122958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PROMETHEUSS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144BC598-62ED-ABC9-3B3D-BBF387D13632}"/>
              </a:ext>
            </a:extLst>
          </p:cNvPr>
          <p:cNvSpPr txBox="1"/>
          <p:nvPr/>
        </p:nvSpPr>
        <p:spPr bwMode="auto">
          <a:xfrm>
            <a:off x="-15193" y="1527382"/>
            <a:ext cx="12207193" cy="1158269"/>
          </a:xfrm>
          <a:prstGeom prst="rect">
            <a:avLst/>
          </a:prstGeom>
        </p:spPr>
        <p:txBody>
          <a:bodyPr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884"/>
              </a:lnSpc>
              <a:defRPr/>
            </a:pPr>
            <a:r>
              <a:rPr lang="en-US" sz="2400" b="1" i="0" u="none" strike="noStrike" cap="none" spc="4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Velocity-Enhanced Clustering for</a:t>
            </a:r>
            <a:r>
              <a:rPr lang="en-IN" sz="2400" b="1" i="0" u="none" strike="noStrike" cap="none" spc="4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i="0" u="none" strike="noStrike" cap="none" spc="4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Transactional Outlier Recognition</a:t>
            </a:r>
            <a:endParaRPr lang="en-US" sz="2400" b="1" i="0" u="none" strike="noStrike" cap="none" spc="4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5CDC40E-3217-C1CC-71D3-D92100E63C44}"/>
              </a:ext>
            </a:extLst>
          </p:cNvPr>
          <p:cNvSpPr txBox="1"/>
          <p:nvPr/>
        </p:nvSpPr>
        <p:spPr bwMode="auto">
          <a:xfrm>
            <a:off x="-15193" y="1610384"/>
            <a:ext cx="12222386" cy="708207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fromWordArt="0" anchor="t" anchorCtr="0" forceAA="0" compatLnSpc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243"/>
              </a:lnSpc>
              <a:defRPr/>
            </a:pPr>
            <a:r>
              <a:rPr lang="en-US" sz="8000" b="1" i="0" u="none" strike="noStrike" cap="none" spc="41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V.E.C.T.O.R</a:t>
            </a:r>
            <a:endParaRPr sz="8000" b="1" i="0" u="none" strike="noStrike" cap="none" spc="41" dirty="0">
              <a:solidFill>
                <a:schemeClr val="accent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7F3F0C-B6F2-BC9E-BA3F-D161BFE0F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914" y="935823"/>
            <a:ext cx="691796" cy="6930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096318" y="0"/>
            <a:ext cx="9174868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FROM TRANSACTION TRAFFIC TO INVESTIGATIVE LEADS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5155513-EC57-0379-FC3C-960F6AA350A2}"/>
              </a:ext>
            </a:extLst>
          </p:cNvPr>
          <p:cNvSpPr/>
          <p:nvPr/>
        </p:nvSpPr>
        <p:spPr>
          <a:xfrm>
            <a:off x="2741283" y="3383711"/>
            <a:ext cx="5187351" cy="4715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65C14F4-51C8-9245-B78F-28D940FB63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0" t="3760" r="25392" b="4236"/>
          <a:stretch>
            <a:fillRect/>
          </a:stretch>
        </p:blipFill>
        <p:spPr>
          <a:xfrm>
            <a:off x="122883" y="57097"/>
            <a:ext cx="973434" cy="1012371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292D7280-19C6-DA6B-796B-6707FA47C861}"/>
              </a:ext>
            </a:extLst>
          </p:cNvPr>
          <p:cNvSpPr/>
          <p:nvPr/>
        </p:nvSpPr>
        <p:spPr>
          <a:xfrm>
            <a:off x="946404" y="1298448"/>
            <a:ext cx="603504" cy="6035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8" name="Image 0" descr="/home/claude/icons/database_white.png">
            <a:extLst>
              <a:ext uri="{FF2B5EF4-FFF2-40B4-BE49-F238E27FC236}">
                <a16:creationId xmlns:a16="http://schemas.microsoft.com/office/drawing/2014/main" id="{997BFB14-A60C-4814-C843-D1F825CE0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824" y="1370868"/>
            <a:ext cx="458663" cy="458663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1C6FD5CD-157F-A471-ED4C-6C70B4702EE7}"/>
              </a:ext>
            </a:extLst>
          </p:cNvPr>
          <p:cNvSpPr txBox="1"/>
          <p:nvPr/>
        </p:nvSpPr>
        <p:spPr>
          <a:xfrm>
            <a:off x="411480" y="19568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32E3BD2-2A63-FC79-5A1A-8308E03811AC}"/>
              </a:ext>
            </a:extLst>
          </p:cNvPr>
          <p:cNvSpPr txBox="1"/>
          <p:nvPr/>
        </p:nvSpPr>
        <p:spPr>
          <a:xfrm>
            <a:off x="457200" y="223113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transactions</a:t>
            </a:r>
            <a:endParaRPr lang="en-US" sz="120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CDACE85-5F9A-4A27-CBF2-25E6D3841628}"/>
              </a:ext>
            </a:extLst>
          </p:cNvPr>
          <p:cNvSpPr/>
          <p:nvPr/>
        </p:nvSpPr>
        <p:spPr>
          <a:xfrm>
            <a:off x="1938528" y="1545336"/>
            <a:ext cx="256032" cy="109728"/>
          </a:xfrm>
          <a:prstGeom prst="rightArrow">
            <a:avLst/>
          </a:prstGeom>
          <a:solidFill>
            <a:srgbClr val="C7D2DD"/>
          </a:solidFill>
          <a:ln/>
        </p:spPr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5AD22D01-A430-F82D-1FE2-EAA65458A6E6}"/>
              </a:ext>
            </a:extLst>
          </p:cNvPr>
          <p:cNvSpPr/>
          <p:nvPr/>
        </p:nvSpPr>
        <p:spPr>
          <a:xfrm>
            <a:off x="2619756" y="1298448"/>
            <a:ext cx="603504" cy="6035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8" name="Image 1" descr="/home/claude/icons/user_white.png">
            <a:extLst>
              <a:ext uri="{FF2B5EF4-FFF2-40B4-BE49-F238E27FC236}">
                <a16:creationId xmlns:a16="http://schemas.microsoft.com/office/drawing/2014/main" id="{E305EB94-B4DF-41AA-D4BC-01CE5727D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176" y="1370868"/>
            <a:ext cx="458663" cy="458663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65F28912-DF7B-9809-16A0-4C57E86C14AE}"/>
              </a:ext>
            </a:extLst>
          </p:cNvPr>
          <p:cNvSpPr txBox="1"/>
          <p:nvPr/>
        </p:nvSpPr>
        <p:spPr>
          <a:xfrm>
            <a:off x="2084832" y="19568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01BB7F9A-135F-CD44-201A-7D75D88BE6A3}"/>
              </a:ext>
            </a:extLst>
          </p:cNvPr>
          <p:cNvSpPr txBox="1"/>
          <p:nvPr/>
        </p:nvSpPr>
        <p:spPr>
          <a:xfrm>
            <a:off x="2130552" y="223113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signatures</a:t>
            </a:r>
            <a:endParaRPr lang="en-US" sz="12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1B00D021-C26A-C00D-989F-0487B8D7A610}"/>
              </a:ext>
            </a:extLst>
          </p:cNvPr>
          <p:cNvSpPr/>
          <p:nvPr/>
        </p:nvSpPr>
        <p:spPr>
          <a:xfrm>
            <a:off x="3611880" y="1545336"/>
            <a:ext cx="256032" cy="109728"/>
          </a:xfrm>
          <a:prstGeom prst="rightArrow">
            <a:avLst/>
          </a:prstGeom>
          <a:solidFill>
            <a:srgbClr val="C7D2DD"/>
          </a:solidFill>
          <a:ln/>
        </p:spPr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415C689F-1268-0DC2-EFA2-77645642F93A}"/>
              </a:ext>
            </a:extLst>
          </p:cNvPr>
          <p:cNvSpPr/>
          <p:nvPr/>
        </p:nvSpPr>
        <p:spPr>
          <a:xfrm>
            <a:off x="4293108" y="1298448"/>
            <a:ext cx="603504" cy="6035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8" name="Image 2" descr="/home/claude/icons/network_white.png">
            <a:extLst>
              <a:ext uri="{FF2B5EF4-FFF2-40B4-BE49-F238E27FC236}">
                <a16:creationId xmlns:a16="http://schemas.microsoft.com/office/drawing/2014/main" id="{E0D6F1C5-A5EC-A9E1-45EA-3E6AF30364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5528" y="1370868"/>
            <a:ext cx="458663" cy="458663"/>
          </a:xfrm>
          <a:prstGeom prst="rect">
            <a:avLst/>
          </a:prstGeom>
        </p:spPr>
      </p:pic>
      <p:sp>
        <p:nvSpPr>
          <p:cNvPr id="40" name="Text 12">
            <a:extLst>
              <a:ext uri="{FF2B5EF4-FFF2-40B4-BE49-F238E27FC236}">
                <a16:creationId xmlns:a16="http://schemas.microsoft.com/office/drawing/2014/main" id="{B08585F8-DE84-65CC-08C2-EE8E3ED8C141}"/>
              </a:ext>
            </a:extLst>
          </p:cNvPr>
          <p:cNvSpPr txBox="1"/>
          <p:nvPr/>
        </p:nvSpPr>
        <p:spPr>
          <a:xfrm>
            <a:off x="3758184" y="19568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6CA2BEFD-64EC-8FB6-FFE1-B4C89EDD7F93}"/>
              </a:ext>
            </a:extLst>
          </p:cNvPr>
          <p:cNvSpPr txBox="1"/>
          <p:nvPr/>
        </p:nvSpPr>
        <p:spPr>
          <a:xfrm>
            <a:off x="3803904" y="223113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entities</a:t>
            </a:r>
            <a:endParaRPr lang="en-US" sz="120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3E43D27F-9E5E-EAD1-2CCA-26EC8307B271}"/>
              </a:ext>
            </a:extLst>
          </p:cNvPr>
          <p:cNvSpPr/>
          <p:nvPr/>
        </p:nvSpPr>
        <p:spPr>
          <a:xfrm>
            <a:off x="5285232" y="1545336"/>
            <a:ext cx="256032" cy="109728"/>
          </a:xfrm>
          <a:prstGeom prst="rightArrow">
            <a:avLst/>
          </a:prstGeom>
          <a:solidFill>
            <a:srgbClr val="C7D2DD"/>
          </a:solidFill>
          <a:ln/>
        </p:spPr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010E21AA-21E7-14C2-B80D-8754A84EF26D}"/>
              </a:ext>
            </a:extLst>
          </p:cNvPr>
          <p:cNvSpPr/>
          <p:nvPr/>
        </p:nvSpPr>
        <p:spPr>
          <a:xfrm>
            <a:off x="5966460" y="1298448"/>
            <a:ext cx="603504" cy="603504"/>
          </a:xfrm>
          <a:prstGeom prst="ellipse">
            <a:avLst/>
          </a:prstGeom>
          <a:solidFill>
            <a:srgbClr val="A1332B"/>
          </a:solidFill>
          <a:ln w="12700">
            <a:solidFill>
              <a:srgbClr val="A1332B"/>
            </a:solidFill>
            <a:prstDash val="solid"/>
          </a:ln>
        </p:spPr>
      </p:sp>
      <p:pic>
        <p:nvPicPr>
          <p:cNvPr id="48" name="Image 3" descr="/home/claude/icons/alertTriangle_white.png">
            <a:extLst>
              <a:ext uri="{FF2B5EF4-FFF2-40B4-BE49-F238E27FC236}">
                <a16:creationId xmlns:a16="http://schemas.microsoft.com/office/drawing/2014/main" id="{69BBB8BA-3FCF-A6CF-0633-F840CCB178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80" y="1370868"/>
            <a:ext cx="458663" cy="458663"/>
          </a:xfrm>
          <a:prstGeom prst="rect">
            <a:avLst/>
          </a:prstGeom>
        </p:spPr>
      </p:pic>
      <p:sp>
        <p:nvSpPr>
          <p:cNvPr id="50" name="Text 16">
            <a:extLst>
              <a:ext uri="{FF2B5EF4-FFF2-40B4-BE49-F238E27FC236}">
                <a16:creationId xmlns:a16="http://schemas.microsoft.com/office/drawing/2014/main" id="{5BD5D8EB-89AE-A96B-91B1-6A4AB108AEFA}"/>
              </a:ext>
            </a:extLst>
          </p:cNvPr>
          <p:cNvSpPr txBox="1"/>
          <p:nvPr/>
        </p:nvSpPr>
        <p:spPr>
          <a:xfrm>
            <a:off x="5431536" y="19568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56E348AD-EC8B-F24F-58A1-E9C969EA219D}"/>
              </a:ext>
            </a:extLst>
          </p:cNvPr>
          <p:cNvSpPr txBox="1"/>
          <p:nvPr/>
        </p:nvSpPr>
        <p:spPr>
          <a:xfrm>
            <a:off x="5477256" y="223113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anomalies</a:t>
            </a:r>
            <a:endParaRPr lang="en-US" sz="1200" dirty="0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855F97B3-97EF-A8A4-374B-994FC4BF645F}"/>
              </a:ext>
            </a:extLst>
          </p:cNvPr>
          <p:cNvSpPr/>
          <p:nvPr/>
        </p:nvSpPr>
        <p:spPr>
          <a:xfrm>
            <a:off x="6958584" y="1545336"/>
            <a:ext cx="256032" cy="109728"/>
          </a:xfrm>
          <a:prstGeom prst="rightArrow">
            <a:avLst/>
          </a:prstGeom>
          <a:solidFill>
            <a:srgbClr val="C7D2DD"/>
          </a:solidFill>
          <a:ln/>
        </p:spPr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ADDA732A-2FF2-30B2-5D5C-A01E3B5BB607}"/>
              </a:ext>
            </a:extLst>
          </p:cNvPr>
          <p:cNvSpPr/>
          <p:nvPr/>
        </p:nvSpPr>
        <p:spPr>
          <a:xfrm>
            <a:off x="7639812" y="1298448"/>
            <a:ext cx="603504" cy="60350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8" name="Image 4" descr="/home/claude/icons/listChecks_white.png">
            <a:extLst>
              <a:ext uri="{FF2B5EF4-FFF2-40B4-BE49-F238E27FC236}">
                <a16:creationId xmlns:a16="http://schemas.microsoft.com/office/drawing/2014/main" id="{D479AA8B-5F4E-84AA-8A50-E55C24F71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2232" y="1370868"/>
            <a:ext cx="458663" cy="458663"/>
          </a:xfrm>
          <a:prstGeom prst="rect">
            <a:avLst/>
          </a:prstGeom>
        </p:spPr>
      </p:pic>
      <p:sp>
        <p:nvSpPr>
          <p:cNvPr id="60" name="Text 20">
            <a:extLst>
              <a:ext uri="{FF2B5EF4-FFF2-40B4-BE49-F238E27FC236}">
                <a16:creationId xmlns:a16="http://schemas.microsoft.com/office/drawing/2014/main" id="{B8D04741-DD54-1171-3F5E-ECEAB03B35DB}"/>
              </a:ext>
            </a:extLst>
          </p:cNvPr>
          <p:cNvSpPr txBox="1"/>
          <p:nvPr/>
        </p:nvSpPr>
        <p:spPr>
          <a:xfrm>
            <a:off x="7104888" y="195681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2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1363C99D-AFE3-E00D-1152-6B86D90816BA}"/>
              </a:ext>
            </a:extLst>
          </p:cNvPr>
          <p:cNvSpPr txBox="1"/>
          <p:nvPr/>
        </p:nvSpPr>
        <p:spPr>
          <a:xfrm>
            <a:off x="7150608" y="223113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leads</a:t>
            </a:r>
            <a:endParaRPr lang="en-US" sz="1200" dirty="0"/>
          </a:p>
        </p:txBody>
      </p:sp>
      <p:sp>
        <p:nvSpPr>
          <p:cNvPr id="15360" name="Shape 22">
            <a:extLst>
              <a:ext uri="{FF2B5EF4-FFF2-40B4-BE49-F238E27FC236}">
                <a16:creationId xmlns:a16="http://schemas.microsoft.com/office/drawing/2014/main" id="{E53C8FBE-CD17-675C-2AA5-0A8943953CB6}"/>
              </a:ext>
            </a:extLst>
          </p:cNvPr>
          <p:cNvSpPr/>
          <p:nvPr/>
        </p:nvSpPr>
        <p:spPr>
          <a:xfrm>
            <a:off x="411480" y="2788920"/>
            <a:ext cx="8366760" cy="566928"/>
          </a:xfrm>
          <a:prstGeom prst="roundRect">
            <a:avLst>
              <a:gd name="adj" fmla="val 9677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</p:sp>
      <p:sp>
        <p:nvSpPr>
          <p:cNvPr id="15363" name="Text 23">
            <a:extLst>
              <a:ext uri="{FF2B5EF4-FFF2-40B4-BE49-F238E27FC236}">
                <a16:creationId xmlns:a16="http://schemas.microsoft.com/office/drawing/2014/main" id="{DFE687EA-1DCA-9618-C7E1-9B1AB94F18EB}"/>
              </a:ext>
            </a:extLst>
          </p:cNvPr>
          <p:cNvSpPr txBox="1"/>
          <p:nvPr/>
        </p:nvSpPr>
        <p:spPr>
          <a:xfrm>
            <a:off x="640080" y="2788920"/>
            <a:ext cx="7909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learns what "normal" looks like for each behavioral community </a:t>
            </a:r>
            <a:r>
              <a:rPr lang="en-US" sz="13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surfaces deviations worth investigating.</a:t>
            </a:r>
            <a:endParaRPr lang="en-US" sz="1300" dirty="0"/>
          </a:p>
        </p:txBody>
      </p:sp>
      <p:sp>
        <p:nvSpPr>
          <p:cNvPr id="15365" name="Text 24">
            <a:extLst>
              <a:ext uri="{FF2B5EF4-FFF2-40B4-BE49-F238E27FC236}">
                <a16:creationId xmlns:a16="http://schemas.microsoft.com/office/drawing/2014/main" id="{528A513A-ED27-B0B0-C2E8-BCC8EF7E1106}"/>
              </a:ext>
            </a:extLst>
          </p:cNvPr>
          <p:cNvSpPr txBox="1"/>
          <p:nvPr/>
        </p:nvSpPr>
        <p:spPr>
          <a:xfrm>
            <a:off x="411480" y="356616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A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5367" name="Shape 25">
            <a:extLst>
              <a:ext uri="{FF2B5EF4-FFF2-40B4-BE49-F238E27FC236}">
                <a16:creationId xmlns:a16="http://schemas.microsoft.com/office/drawing/2014/main" id="{E44E286D-9D5F-770B-E0FC-EAD590943E0E}"/>
              </a:ext>
            </a:extLst>
          </p:cNvPr>
          <p:cNvSpPr/>
          <p:nvPr/>
        </p:nvSpPr>
        <p:spPr>
          <a:xfrm>
            <a:off x="411480" y="3877056"/>
            <a:ext cx="2667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D"/>
            </a:solidFill>
            <a:prstDash val="solid"/>
          </a:ln>
        </p:spPr>
      </p:sp>
      <p:sp>
        <p:nvSpPr>
          <p:cNvPr id="15369" name="Shape 26">
            <a:extLst>
              <a:ext uri="{FF2B5EF4-FFF2-40B4-BE49-F238E27FC236}">
                <a16:creationId xmlns:a16="http://schemas.microsoft.com/office/drawing/2014/main" id="{F4863DB2-27CC-95BE-98A9-32D35627C88A}"/>
              </a:ext>
            </a:extLst>
          </p:cNvPr>
          <p:cNvSpPr/>
          <p:nvPr/>
        </p:nvSpPr>
        <p:spPr>
          <a:xfrm>
            <a:off x="557784" y="4041648"/>
            <a:ext cx="402336" cy="402336"/>
          </a:xfrm>
          <a:prstGeom prst="ellipse">
            <a:avLst/>
          </a:prstGeom>
          <a:solidFill>
            <a:srgbClr val="A1332B"/>
          </a:solidFill>
          <a:ln w="12700">
            <a:solidFill>
              <a:srgbClr val="A1332B"/>
            </a:solidFill>
            <a:prstDash val="solid"/>
          </a:ln>
        </p:spPr>
      </p:sp>
      <p:pic>
        <p:nvPicPr>
          <p:cNvPr id="15371" name="Image 5" descr="/home/claude/icons/wallet_white.png">
            <a:extLst>
              <a:ext uri="{FF2B5EF4-FFF2-40B4-BE49-F238E27FC236}">
                <a16:creationId xmlns:a16="http://schemas.microsoft.com/office/drawing/2014/main" id="{DAB6CFD7-4EDF-24CF-D5E7-578B36344B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064" y="4089928"/>
            <a:ext cx="305775" cy="305775"/>
          </a:xfrm>
          <a:prstGeom prst="rect">
            <a:avLst/>
          </a:prstGeom>
        </p:spPr>
      </p:pic>
      <p:sp>
        <p:nvSpPr>
          <p:cNvPr id="15373" name="Text 27">
            <a:extLst>
              <a:ext uri="{FF2B5EF4-FFF2-40B4-BE49-F238E27FC236}">
                <a16:creationId xmlns:a16="http://schemas.microsoft.com/office/drawing/2014/main" id="{F1B7A18E-0486-004F-E86D-8726A0B55BA3}"/>
              </a:ext>
            </a:extLst>
          </p:cNvPr>
          <p:cNvSpPr txBox="1"/>
          <p:nvPr/>
        </p:nvSpPr>
        <p:spPr>
          <a:xfrm>
            <a:off x="1069848" y="3986784"/>
            <a:ext cx="1880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Wallets</a:t>
            </a:r>
            <a:endParaRPr lang="en-US" sz="1400" dirty="0"/>
          </a:p>
        </p:txBody>
      </p:sp>
      <p:sp>
        <p:nvSpPr>
          <p:cNvPr id="15375" name="Text 28">
            <a:extLst>
              <a:ext uri="{FF2B5EF4-FFF2-40B4-BE49-F238E27FC236}">
                <a16:creationId xmlns:a16="http://schemas.microsoft.com/office/drawing/2014/main" id="{DD9651D3-6B00-B1CD-F786-E693E7BB2D73}"/>
              </a:ext>
            </a:extLst>
          </p:cNvPr>
          <p:cNvSpPr txBox="1"/>
          <p:nvPr/>
        </p:nvSpPr>
        <p:spPr>
          <a:xfrm>
            <a:off x="1069848" y="4297680"/>
            <a:ext cx="1880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hidden behind addresses</a:t>
            </a:r>
            <a:endParaRPr lang="en-US" sz="1050" dirty="0"/>
          </a:p>
        </p:txBody>
      </p:sp>
      <p:sp>
        <p:nvSpPr>
          <p:cNvPr id="15377" name="Shape 29">
            <a:extLst>
              <a:ext uri="{FF2B5EF4-FFF2-40B4-BE49-F238E27FC236}">
                <a16:creationId xmlns:a16="http://schemas.microsoft.com/office/drawing/2014/main" id="{E6753321-6B47-68D4-229C-46CBADD7A651}"/>
              </a:ext>
            </a:extLst>
          </p:cNvPr>
          <p:cNvSpPr/>
          <p:nvPr/>
        </p:nvSpPr>
        <p:spPr>
          <a:xfrm>
            <a:off x="3261360" y="3877056"/>
            <a:ext cx="2667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D"/>
            </a:solidFill>
            <a:prstDash val="solid"/>
          </a:ln>
        </p:spPr>
      </p:sp>
      <p:sp>
        <p:nvSpPr>
          <p:cNvPr id="15379" name="Shape 30">
            <a:extLst>
              <a:ext uri="{FF2B5EF4-FFF2-40B4-BE49-F238E27FC236}">
                <a16:creationId xmlns:a16="http://schemas.microsoft.com/office/drawing/2014/main" id="{6AFD9F30-A9D9-A587-07A6-95ED7E4F9844}"/>
              </a:ext>
            </a:extLst>
          </p:cNvPr>
          <p:cNvSpPr/>
          <p:nvPr/>
        </p:nvSpPr>
        <p:spPr>
          <a:xfrm>
            <a:off x="3407664" y="4041648"/>
            <a:ext cx="402336" cy="402336"/>
          </a:xfrm>
          <a:prstGeom prst="ellipse">
            <a:avLst/>
          </a:prstGeom>
          <a:solidFill>
            <a:srgbClr val="A1332B"/>
          </a:solidFill>
          <a:ln w="12700">
            <a:solidFill>
              <a:srgbClr val="A1332B"/>
            </a:solidFill>
            <a:prstDash val="solid"/>
          </a:ln>
        </p:spPr>
      </p:sp>
      <p:pic>
        <p:nvPicPr>
          <p:cNvPr id="15381" name="Image 6" descr="/home/claude/icons/shuffle_white.png">
            <a:extLst>
              <a:ext uri="{FF2B5EF4-FFF2-40B4-BE49-F238E27FC236}">
                <a16:creationId xmlns:a16="http://schemas.microsoft.com/office/drawing/2014/main" id="{813801CC-00C3-6D53-DC16-F383811F5D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5944" y="4089928"/>
            <a:ext cx="305775" cy="305775"/>
          </a:xfrm>
          <a:prstGeom prst="rect">
            <a:avLst/>
          </a:prstGeom>
        </p:spPr>
      </p:pic>
      <p:sp>
        <p:nvSpPr>
          <p:cNvPr id="15383" name="Text 31">
            <a:extLst>
              <a:ext uri="{FF2B5EF4-FFF2-40B4-BE49-F238E27FC236}">
                <a16:creationId xmlns:a16="http://schemas.microsoft.com/office/drawing/2014/main" id="{417AC114-F3A0-2DA3-4D21-DAB18F0D2295}"/>
              </a:ext>
            </a:extLst>
          </p:cNvPr>
          <p:cNvSpPr txBox="1"/>
          <p:nvPr/>
        </p:nvSpPr>
        <p:spPr>
          <a:xfrm>
            <a:off x="3919728" y="3986784"/>
            <a:ext cx="2109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Fund Movement</a:t>
            </a:r>
            <a:endParaRPr lang="en-US" sz="1400" dirty="0"/>
          </a:p>
        </p:txBody>
      </p:sp>
      <p:sp>
        <p:nvSpPr>
          <p:cNvPr id="15385" name="Text 32">
            <a:extLst>
              <a:ext uri="{FF2B5EF4-FFF2-40B4-BE49-F238E27FC236}">
                <a16:creationId xmlns:a16="http://schemas.microsoft.com/office/drawing/2014/main" id="{478D2D68-B265-9D33-B8F0-4BE0A4BCC4F6}"/>
              </a:ext>
            </a:extLst>
          </p:cNvPr>
          <p:cNvSpPr txBox="1"/>
          <p:nvPr/>
        </p:nvSpPr>
        <p:spPr>
          <a:xfrm>
            <a:off x="3919728" y="4297680"/>
            <a:ext cx="1962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Layering, rapid hopping, coordinated flows</a:t>
            </a:r>
            <a:endParaRPr lang="en-US" sz="1050" dirty="0"/>
          </a:p>
        </p:txBody>
      </p:sp>
      <p:sp>
        <p:nvSpPr>
          <p:cNvPr id="15387" name="Shape 33">
            <a:extLst>
              <a:ext uri="{FF2B5EF4-FFF2-40B4-BE49-F238E27FC236}">
                <a16:creationId xmlns:a16="http://schemas.microsoft.com/office/drawing/2014/main" id="{B00EF7B9-2286-2629-98B8-DFF9FC2E4FFD}"/>
              </a:ext>
            </a:extLst>
          </p:cNvPr>
          <p:cNvSpPr/>
          <p:nvPr/>
        </p:nvSpPr>
        <p:spPr>
          <a:xfrm>
            <a:off x="6111240" y="3877056"/>
            <a:ext cx="2667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D"/>
            </a:solidFill>
            <a:prstDash val="solid"/>
          </a:ln>
        </p:spPr>
      </p:sp>
      <p:sp>
        <p:nvSpPr>
          <p:cNvPr id="15389" name="Shape 34">
            <a:extLst>
              <a:ext uri="{FF2B5EF4-FFF2-40B4-BE49-F238E27FC236}">
                <a16:creationId xmlns:a16="http://schemas.microsoft.com/office/drawing/2014/main" id="{42268BFB-0F1E-9964-DF87-27E98A9EE37B}"/>
              </a:ext>
            </a:extLst>
          </p:cNvPr>
          <p:cNvSpPr/>
          <p:nvPr/>
        </p:nvSpPr>
        <p:spPr>
          <a:xfrm>
            <a:off x="6257544" y="4041648"/>
            <a:ext cx="402336" cy="402336"/>
          </a:xfrm>
          <a:prstGeom prst="ellipse">
            <a:avLst/>
          </a:prstGeom>
          <a:solidFill>
            <a:srgbClr val="A1332B"/>
          </a:solidFill>
          <a:ln w="12700">
            <a:solidFill>
              <a:srgbClr val="A1332B"/>
            </a:solidFill>
            <a:prstDash val="solid"/>
          </a:ln>
        </p:spPr>
      </p:sp>
      <p:pic>
        <p:nvPicPr>
          <p:cNvPr id="15391" name="Image 7" descr="/home/claude/icons/bell_white.png">
            <a:extLst>
              <a:ext uri="{FF2B5EF4-FFF2-40B4-BE49-F238E27FC236}">
                <a16:creationId xmlns:a16="http://schemas.microsoft.com/office/drawing/2014/main" id="{89F89338-1653-42B8-EDCA-7A2513DDDA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824" y="4089928"/>
            <a:ext cx="305775" cy="305775"/>
          </a:xfrm>
          <a:prstGeom prst="rect">
            <a:avLst/>
          </a:prstGeom>
        </p:spPr>
      </p:pic>
      <p:sp>
        <p:nvSpPr>
          <p:cNvPr id="15393" name="Text 35">
            <a:extLst>
              <a:ext uri="{FF2B5EF4-FFF2-40B4-BE49-F238E27FC236}">
                <a16:creationId xmlns:a16="http://schemas.microsoft.com/office/drawing/2014/main" id="{58CB425C-9FC6-67C1-FD77-D1C1FF1085FB}"/>
              </a:ext>
            </a:extLst>
          </p:cNvPr>
          <p:cNvSpPr txBox="1"/>
          <p:nvPr/>
        </p:nvSpPr>
        <p:spPr>
          <a:xfrm>
            <a:off x="6769608" y="3986784"/>
            <a:ext cx="1880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Overload</a:t>
            </a:r>
            <a:endParaRPr lang="en-US" sz="1400" dirty="0"/>
          </a:p>
        </p:txBody>
      </p:sp>
      <p:sp>
        <p:nvSpPr>
          <p:cNvPr id="15395" name="Text 36">
            <a:extLst>
              <a:ext uri="{FF2B5EF4-FFF2-40B4-BE49-F238E27FC236}">
                <a16:creationId xmlns:a16="http://schemas.microsoft.com/office/drawing/2014/main" id="{5C171F42-18B4-3A38-8C6B-6BDD3189113B}"/>
              </a:ext>
            </a:extLst>
          </p:cNvPr>
          <p:cNvSpPr txBox="1"/>
          <p:nvPr/>
        </p:nvSpPr>
        <p:spPr>
          <a:xfrm>
            <a:off x="6769608" y="4297680"/>
            <a:ext cx="1880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prioritize meaningful activity</a:t>
            </a:r>
            <a:endParaRPr lang="en-US" sz="1050" dirty="0"/>
          </a:p>
        </p:txBody>
      </p:sp>
      <p:sp>
        <p:nvSpPr>
          <p:cNvPr id="15397" name="Shape 37">
            <a:extLst>
              <a:ext uri="{FF2B5EF4-FFF2-40B4-BE49-F238E27FC236}">
                <a16:creationId xmlns:a16="http://schemas.microsoft.com/office/drawing/2014/main" id="{8C308EFB-A940-D1F6-8E6A-23675E409F7D}"/>
              </a:ext>
            </a:extLst>
          </p:cNvPr>
          <p:cNvSpPr/>
          <p:nvPr/>
        </p:nvSpPr>
        <p:spPr>
          <a:xfrm>
            <a:off x="411480" y="4983480"/>
            <a:ext cx="457200" cy="457200"/>
          </a:xfrm>
          <a:prstGeom prst="ellipse">
            <a:avLst/>
          </a:prstGeom>
          <a:solidFill>
            <a:srgbClr val="3D6A94"/>
          </a:solidFill>
          <a:ln w="12700">
            <a:solidFill>
              <a:srgbClr val="3D6A94"/>
            </a:solidFill>
            <a:prstDash val="solid"/>
          </a:ln>
        </p:spPr>
      </p:sp>
      <p:pic>
        <p:nvPicPr>
          <p:cNvPr id="15399" name="Image 8" descr="/home/claude/icons/brain_white.png">
            <a:extLst>
              <a:ext uri="{FF2B5EF4-FFF2-40B4-BE49-F238E27FC236}">
                <a16:creationId xmlns:a16="http://schemas.microsoft.com/office/drawing/2014/main" id="{9B094520-679B-F2B5-3254-7DFC3C5772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344" y="5038344"/>
            <a:ext cx="347472" cy="347472"/>
          </a:xfrm>
          <a:prstGeom prst="rect">
            <a:avLst/>
          </a:prstGeom>
        </p:spPr>
      </p:pic>
      <p:sp>
        <p:nvSpPr>
          <p:cNvPr id="15401" name="Text 38">
            <a:extLst>
              <a:ext uri="{FF2B5EF4-FFF2-40B4-BE49-F238E27FC236}">
                <a16:creationId xmlns:a16="http://schemas.microsoft.com/office/drawing/2014/main" id="{0E679A93-971A-C37A-A934-A63998E2DCC4}"/>
              </a:ext>
            </a:extLst>
          </p:cNvPr>
          <p:cNvSpPr txBox="1"/>
          <p:nvPr/>
        </p:nvSpPr>
        <p:spPr>
          <a:xfrm>
            <a:off x="978408" y="4965192"/>
            <a:ext cx="210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Behavior-Aware</a:t>
            </a:r>
            <a:endParaRPr lang="en-US" sz="1600" dirty="0"/>
          </a:p>
        </p:txBody>
      </p:sp>
      <p:sp>
        <p:nvSpPr>
          <p:cNvPr id="15403" name="Text 39">
            <a:extLst>
              <a:ext uri="{FF2B5EF4-FFF2-40B4-BE49-F238E27FC236}">
                <a16:creationId xmlns:a16="http://schemas.microsoft.com/office/drawing/2014/main" id="{B2CCB237-2E15-020F-FE04-BD6E99E80477}"/>
              </a:ext>
            </a:extLst>
          </p:cNvPr>
          <p:cNvSpPr txBox="1"/>
          <p:nvPr/>
        </p:nvSpPr>
        <p:spPr>
          <a:xfrm>
            <a:off x="950701" y="5187810"/>
            <a:ext cx="22192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deviations relative to an entity’s behavioral community.</a:t>
            </a:r>
            <a:endParaRPr lang="en-US" sz="1200" dirty="0"/>
          </a:p>
        </p:txBody>
      </p:sp>
      <p:sp>
        <p:nvSpPr>
          <p:cNvPr id="15405" name="Shape 40">
            <a:extLst>
              <a:ext uri="{FF2B5EF4-FFF2-40B4-BE49-F238E27FC236}">
                <a16:creationId xmlns:a16="http://schemas.microsoft.com/office/drawing/2014/main" id="{DF7436F4-3881-FCC1-8BD0-8AF7FE553C34}"/>
              </a:ext>
            </a:extLst>
          </p:cNvPr>
          <p:cNvSpPr/>
          <p:nvPr/>
        </p:nvSpPr>
        <p:spPr>
          <a:xfrm>
            <a:off x="3261360" y="4983480"/>
            <a:ext cx="457200" cy="457200"/>
          </a:xfrm>
          <a:prstGeom prst="ellipse">
            <a:avLst/>
          </a:prstGeom>
          <a:solidFill>
            <a:srgbClr val="3D6A94"/>
          </a:solidFill>
          <a:ln w="12700">
            <a:solidFill>
              <a:srgbClr val="3D6A94"/>
            </a:solidFill>
            <a:prstDash val="solid"/>
          </a:ln>
        </p:spPr>
      </p:sp>
      <p:pic>
        <p:nvPicPr>
          <p:cNvPr id="15407" name="Image 9" descr="/home/claude/icons/refresh_white.png">
            <a:extLst>
              <a:ext uri="{FF2B5EF4-FFF2-40B4-BE49-F238E27FC236}">
                <a16:creationId xmlns:a16="http://schemas.microsoft.com/office/drawing/2014/main" id="{0CD0B0A4-838F-F080-DA4A-A7A75609BD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6224" y="5038344"/>
            <a:ext cx="347472" cy="347472"/>
          </a:xfrm>
          <a:prstGeom prst="rect">
            <a:avLst/>
          </a:prstGeom>
        </p:spPr>
      </p:pic>
      <p:sp>
        <p:nvSpPr>
          <p:cNvPr id="15409" name="Text 41">
            <a:extLst>
              <a:ext uri="{FF2B5EF4-FFF2-40B4-BE49-F238E27FC236}">
                <a16:creationId xmlns:a16="http://schemas.microsoft.com/office/drawing/2014/main" id="{F567DEBC-BA70-C279-7E78-AA87912F28CA}"/>
              </a:ext>
            </a:extLst>
          </p:cNvPr>
          <p:cNvSpPr txBox="1"/>
          <p:nvPr/>
        </p:nvSpPr>
        <p:spPr>
          <a:xfrm>
            <a:off x="3828288" y="4965192"/>
            <a:ext cx="210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600" dirty="0"/>
          </a:p>
        </p:txBody>
      </p:sp>
      <p:sp>
        <p:nvSpPr>
          <p:cNvPr id="15411" name="Text 42">
            <a:extLst>
              <a:ext uri="{FF2B5EF4-FFF2-40B4-BE49-F238E27FC236}">
                <a16:creationId xmlns:a16="http://schemas.microsoft.com/office/drawing/2014/main" id="{FC81A80A-AD00-8C67-71DF-97581326AE29}"/>
              </a:ext>
            </a:extLst>
          </p:cNvPr>
          <p:cNvSpPr txBox="1"/>
          <p:nvPr/>
        </p:nvSpPr>
        <p:spPr>
          <a:xfrm>
            <a:off x="3773424" y="5285104"/>
            <a:ext cx="2124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profiling and reclustering handles changing behavior.</a:t>
            </a:r>
            <a:endParaRPr lang="en-US" sz="1200" dirty="0"/>
          </a:p>
        </p:txBody>
      </p:sp>
      <p:sp>
        <p:nvSpPr>
          <p:cNvPr id="15413" name="Shape 43">
            <a:extLst>
              <a:ext uri="{FF2B5EF4-FFF2-40B4-BE49-F238E27FC236}">
                <a16:creationId xmlns:a16="http://schemas.microsoft.com/office/drawing/2014/main" id="{0F71FD03-82D8-5BC5-2476-ECD215946B5A}"/>
              </a:ext>
            </a:extLst>
          </p:cNvPr>
          <p:cNvSpPr/>
          <p:nvPr/>
        </p:nvSpPr>
        <p:spPr>
          <a:xfrm>
            <a:off x="6111240" y="4983480"/>
            <a:ext cx="457200" cy="457200"/>
          </a:xfrm>
          <a:prstGeom prst="ellipse">
            <a:avLst/>
          </a:prstGeom>
          <a:solidFill>
            <a:srgbClr val="3D6A94"/>
          </a:solidFill>
          <a:ln w="12700">
            <a:solidFill>
              <a:srgbClr val="3D6A94"/>
            </a:solidFill>
            <a:prstDash val="solid"/>
          </a:ln>
        </p:spPr>
      </p:sp>
      <p:pic>
        <p:nvPicPr>
          <p:cNvPr id="15415" name="Image 10" descr="/home/claude/icons/fileCheck_white.png">
            <a:extLst>
              <a:ext uri="{FF2B5EF4-FFF2-40B4-BE49-F238E27FC236}">
                <a16:creationId xmlns:a16="http://schemas.microsoft.com/office/drawing/2014/main" id="{79677F11-A7B7-3707-0CFE-D9BDB59F64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6104" y="5038344"/>
            <a:ext cx="347472" cy="347472"/>
          </a:xfrm>
          <a:prstGeom prst="rect">
            <a:avLst/>
          </a:prstGeom>
        </p:spPr>
      </p:pic>
      <p:sp>
        <p:nvSpPr>
          <p:cNvPr id="15417" name="Text 44">
            <a:extLst>
              <a:ext uri="{FF2B5EF4-FFF2-40B4-BE49-F238E27FC236}">
                <a16:creationId xmlns:a16="http://schemas.microsoft.com/office/drawing/2014/main" id="{7C815C9D-59A7-0694-EAEC-24537192C901}"/>
              </a:ext>
            </a:extLst>
          </p:cNvPr>
          <p:cNvSpPr txBox="1"/>
          <p:nvPr/>
        </p:nvSpPr>
        <p:spPr>
          <a:xfrm>
            <a:off x="6678168" y="4965192"/>
            <a:ext cx="210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15419" name="Text 45">
            <a:extLst>
              <a:ext uri="{FF2B5EF4-FFF2-40B4-BE49-F238E27FC236}">
                <a16:creationId xmlns:a16="http://schemas.microsoft.com/office/drawing/2014/main" id="{8E4653B3-64E7-404A-52D4-58824B768DD0}"/>
              </a:ext>
            </a:extLst>
          </p:cNvPr>
          <p:cNvSpPr txBox="1"/>
          <p:nvPr/>
        </p:nvSpPr>
        <p:spPr>
          <a:xfrm>
            <a:off x="6628911" y="5257800"/>
            <a:ext cx="21666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carries risk context, connected entities and evidence.</a:t>
            </a:r>
            <a:endParaRPr lang="en-US" sz="1200" dirty="0"/>
          </a:p>
        </p:txBody>
      </p:sp>
      <p:sp>
        <p:nvSpPr>
          <p:cNvPr id="15421" name="Shape 46">
            <a:extLst>
              <a:ext uri="{FF2B5EF4-FFF2-40B4-BE49-F238E27FC236}">
                <a16:creationId xmlns:a16="http://schemas.microsoft.com/office/drawing/2014/main" id="{A83B8124-7F9C-6B73-CC52-1B09F741EAD2}"/>
              </a:ext>
            </a:extLst>
          </p:cNvPr>
          <p:cNvSpPr/>
          <p:nvPr/>
        </p:nvSpPr>
        <p:spPr>
          <a:xfrm>
            <a:off x="9006840" y="1234440"/>
            <a:ext cx="2770632" cy="5074920"/>
          </a:xfrm>
          <a:prstGeom prst="roundRect">
            <a:avLst>
              <a:gd name="adj" fmla="val 198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423" name="Text 47">
            <a:extLst>
              <a:ext uri="{FF2B5EF4-FFF2-40B4-BE49-F238E27FC236}">
                <a16:creationId xmlns:a16="http://schemas.microsoft.com/office/drawing/2014/main" id="{91927730-5AB9-DA09-3D22-34A9A37ABCB1}"/>
              </a:ext>
            </a:extLst>
          </p:cNvPr>
          <p:cNvSpPr txBox="1"/>
          <p:nvPr/>
        </p:nvSpPr>
        <p:spPr>
          <a:xfrm>
            <a:off x="9189720" y="141732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ISOLATION FOREST</a:t>
            </a:r>
            <a:endParaRPr lang="en-US" sz="1200" dirty="0"/>
          </a:p>
        </p:txBody>
      </p:sp>
      <p:sp>
        <p:nvSpPr>
          <p:cNvPr id="15425" name="Shape 48">
            <a:extLst>
              <a:ext uri="{FF2B5EF4-FFF2-40B4-BE49-F238E27FC236}">
                <a16:creationId xmlns:a16="http://schemas.microsoft.com/office/drawing/2014/main" id="{3AF8A085-820A-BBEA-5B52-81559820CD47}"/>
              </a:ext>
            </a:extLst>
          </p:cNvPr>
          <p:cNvSpPr/>
          <p:nvPr/>
        </p:nvSpPr>
        <p:spPr>
          <a:xfrm>
            <a:off x="9889236" y="2011680"/>
            <a:ext cx="502920" cy="411480"/>
          </a:xfrm>
          <a:prstGeom prst="line">
            <a:avLst/>
          </a:prstGeom>
          <a:noFill/>
          <a:ln w="12700">
            <a:solidFill>
              <a:srgbClr val="5C7999"/>
            </a:solidFill>
            <a:prstDash val="solid"/>
          </a:ln>
        </p:spPr>
      </p:sp>
      <p:sp>
        <p:nvSpPr>
          <p:cNvPr id="15427" name="Shape 49">
            <a:extLst>
              <a:ext uri="{FF2B5EF4-FFF2-40B4-BE49-F238E27FC236}">
                <a16:creationId xmlns:a16="http://schemas.microsoft.com/office/drawing/2014/main" id="{6372DF1F-E053-BC51-B761-E091ADC3F5EC}"/>
              </a:ext>
            </a:extLst>
          </p:cNvPr>
          <p:cNvSpPr/>
          <p:nvPr/>
        </p:nvSpPr>
        <p:spPr>
          <a:xfrm>
            <a:off x="10392156" y="2011680"/>
            <a:ext cx="502920" cy="411480"/>
          </a:xfrm>
          <a:prstGeom prst="line">
            <a:avLst/>
          </a:prstGeom>
          <a:noFill/>
          <a:ln w="12700">
            <a:solidFill>
              <a:srgbClr val="5C7999"/>
            </a:solidFill>
            <a:prstDash val="solid"/>
          </a:ln>
        </p:spPr>
      </p:sp>
      <p:sp>
        <p:nvSpPr>
          <p:cNvPr id="15429" name="Shape 50">
            <a:extLst>
              <a:ext uri="{FF2B5EF4-FFF2-40B4-BE49-F238E27FC236}">
                <a16:creationId xmlns:a16="http://schemas.microsoft.com/office/drawing/2014/main" id="{CE352981-890E-BE1F-1AC0-1608940D24D7}"/>
              </a:ext>
            </a:extLst>
          </p:cNvPr>
          <p:cNvSpPr/>
          <p:nvPr/>
        </p:nvSpPr>
        <p:spPr>
          <a:xfrm>
            <a:off x="9660636" y="2423160"/>
            <a:ext cx="228600" cy="411480"/>
          </a:xfrm>
          <a:prstGeom prst="line">
            <a:avLst/>
          </a:prstGeom>
          <a:noFill/>
          <a:ln w="12700">
            <a:solidFill>
              <a:srgbClr val="5C7999"/>
            </a:solidFill>
            <a:prstDash val="solid"/>
          </a:ln>
        </p:spPr>
      </p:sp>
      <p:sp>
        <p:nvSpPr>
          <p:cNvPr id="15431" name="Shape 51">
            <a:extLst>
              <a:ext uri="{FF2B5EF4-FFF2-40B4-BE49-F238E27FC236}">
                <a16:creationId xmlns:a16="http://schemas.microsoft.com/office/drawing/2014/main" id="{D5A7426E-B579-0004-0A13-FEAD81998B32}"/>
              </a:ext>
            </a:extLst>
          </p:cNvPr>
          <p:cNvSpPr/>
          <p:nvPr/>
        </p:nvSpPr>
        <p:spPr>
          <a:xfrm>
            <a:off x="9889236" y="2423160"/>
            <a:ext cx="228600" cy="411480"/>
          </a:xfrm>
          <a:prstGeom prst="line">
            <a:avLst/>
          </a:prstGeom>
          <a:noFill/>
          <a:ln w="12700">
            <a:solidFill>
              <a:srgbClr val="5C7999"/>
            </a:solidFill>
            <a:prstDash val="solid"/>
          </a:ln>
        </p:spPr>
      </p:sp>
      <p:sp>
        <p:nvSpPr>
          <p:cNvPr id="15433" name="Shape 52">
            <a:extLst>
              <a:ext uri="{FF2B5EF4-FFF2-40B4-BE49-F238E27FC236}">
                <a16:creationId xmlns:a16="http://schemas.microsoft.com/office/drawing/2014/main" id="{20823698-9E0D-9111-3369-16E79B526EA5}"/>
              </a:ext>
            </a:extLst>
          </p:cNvPr>
          <p:cNvSpPr/>
          <p:nvPr/>
        </p:nvSpPr>
        <p:spPr>
          <a:xfrm>
            <a:off x="10666476" y="2423160"/>
            <a:ext cx="228600" cy="411480"/>
          </a:xfrm>
          <a:prstGeom prst="line">
            <a:avLst/>
          </a:prstGeom>
          <a:noFill/>
          <a:ln w="12700">
            <a:solidFill>
              <a:srgbClr val="5C7999"/>
            </a:solidFill>
            <a:prstDash val="solid"/>
          </a:ln>
        </p:spPr>
      </p:sp>
      <p:sp>
        <p:nvSpPr>
          <p:cNvPr id="15435" name="Shape 53">
            <a:extLst>
              <a:ext uri="{FF2B5EF4-FFF2-40B4-BE49-F238E27FC236}">
                <a16:creationId xmlns:a16="http://schemas.microsoft.com/office/drawing/2014/main" id="{3286DCA8-D6DB-FE21-7D80-C0F079E2F9CB}"/>
              </a:ext>
            </a:extLst>
          </p:cNvPr>
          <p:cNvSpPr/>
          <p:nvPr/>
        </p:nvSpPr>
        <p:spPr>
          <a:xfrm>
            <a:off x="10895076" y="2423160"/>
            <a:ext cx="228600" cy="411480"/>
          </a:xfrm>
          <a:prstGeom prst="line">
            <a:avLst/>
          </a:prstGeom>
          <a:noFill/>
          <a:ln w="12700">
            <a:solidFill>
              <a:srgbClr val="5C7999"/>
            </a:solidFill>
            <a:prstDash val="solid"/>
          </a:ln>
        </p:spPr>
      </p:sp>
      <p:sp>
        <p:nvSpPr>
          <p:cNvPr id="15437" name="Shape 54">
            <a:extLst>
              <a:ext uri="{FF2B5EF4-FFF2-40B4-BE49-F238E27FC236}">
                <a16:creationId xmlns:a16="http://schemas.microsoft.com/office/drawing/2014/main" id="{A76176A6-DFBD-E52C-32B2-9FDBF2188462}"/>
              </a:ext>
            </a:extLst>
          </p:cNvPr>
          <p:cNvSpPr/>
          <p:nvPr/>
        </p:nvSpPr>
        <p:spPr>
          <a:xfrm>
            <a:off x="10319004" y="1938528"/>
            <a:ext cx="146304" cy="146304"/>
          </a:xfrm>
          <a:prstGeom prst="ellipse">
            <a:avLst/>
          </a:prstGeom>
          <a:solidFill>
            <a:srgbClr val="9FB4C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39" name="Shape 55">
            <a:extLst>
              <a:ext uri="{FF2B5EF4-FFF2-40B4-BE49-F238E27FC236}">
                <a16:creationId xmlns:a16="http://schemas.microsoft.com/office/drawing/2014/main" id="{448D8F53-6435-7BB9-7724-38BC660FB849}"/>
              </a:ext>
            </a:extLst>
          </p:cNvPr>
          <p:cNvSpPr/>
          <p:nvPr/>
        </p:nvSpPr>
        <p:spPr>
          <a:xfrm>
            <a:off x="9816084" y="2350008"/>
            <a:ext cx="146304" cy="146304"/>
          </a:xfrm>
          <a:prstGeom prst="ellipse">
            <a:avLst/>
          </a:prstGeom>
          <a:solidFill>
            <a:srgbClr val="9FB4C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41" name="Shape 56">
            <a:extLst>
              <a:ext uri="{FF2B5EF4-FFF2-40B4-BE49-F238E27FC236}">
                <a16:creationId xmlns:a16="http://schemas.microsoft.com/office/drawing/2014/main" id="{79D3F63B-7A53-1787-C494-5354F9651F93}"/>
              </a:ext>
            </a:extLst>
          </p:cNvPr>
          <p:cNvSpPr/>
          <p:nvPr/>
        </p:nvSpPr>
        <p:spPr>
          <a:xfrm>
            <a:off x="10821924" y="2350008"/>
            <a:ext cx="146304" cy="146304"/>
          </a:xfrm>
          <a:prstGeom prst="ellipse">
            <a:avLst/>
          </a:prstGeom>
          <a:solidFill>
            <a:srgbClr val="9FB4C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43" name="Shape 57">
            <a:extLst>
              <a:ext uri="{FF2B5EF4-FFF2-40B4-BE49-F238E27FC236}">
                <a16:creationId xmlns:a16="http://schemas.microsoft.com/office/drawing/2014/main" id="{1932904A-C527-0F4B-294A-2BF57B14AF07}"/>
              </a:ext>
            </a:extLst>
          </p:cNvPr>
          <p:cNvSpPr/>
          <p:nvPr/>
        </p:nvSpPr>
        <p:spPr>
          <a:xfrm>
            <a:off x="9587484" y="2761488"/>
            <a:ext cx="146304" cy="146304"/>
          </a:xfrm>
          <a:prstGeom prst="ellipse">
            <a:avLst/>
          </a:prstGeom>
          <a:solidFill>
            <a:srgbClr val="B875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45" name="Shape 58">
            <a:extLst>
              <a:ext uri="{FF2B5EF4-FFF2-40B4-BE49-F238E27FC236}">
                <a16:creationId xmlns:a16="http://schemas.microsoft.com/office/drawing/2014/main" id="{EAC50996-6CB8-1726-086E-F1E01AE997BF}"/>
              </a:ext>
            </a:extLst>
          </p:cNvPr>
          <p:cNvSpPr/>
          <p:nvPr/>
        </p:nvSpPr>
        <p:spPr>
          <a:xfrm>
            <a:off x="10044684" y="2761488"/>
            <a:ext cx="146304" cy="146304"/>
          </a:xfrm>
          <a:prstGeom prst="ellipse">
            <a:avLst/>
          </a:prstGeom>
          <a:solidFill>
            <a:srgbClr val="9FB4C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47" name="Shape 59">
            <a:extLst>
              <a:ext uri="{FF2B5EF4-FFF2-40B4-BE49-F238E27FC236}">
                <a16:creationId xmlns:a16="http://schemas.microsoft.com/office/drawing/2014/main" id="{15D82431-0488-F01B-6CC4-4CD686C99EED}"/>
              </a:ext>
            </a:extLst>
          </p:cNvPr>
          <p:cNvSpPr/>
          <p:nvPr/>
        </p:nvSpPr>
        <p:spPr>
          <a:xfrm>
            <a:off x="10593324" y="2761488"/>
            <a:ext cx="146304" cy="146304"/>
          </a:xfrm>
          <a:prstGeom prst="ellipse">
            <a:avLst/>
          </a:prstGeom>
          <a:solidFill>
            <a:srgbClr val="9FB4C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49" name="Shape 60">
            <a:extLst>
              <a:ext uri="{FF2B5EF4-FFF2-40B4-BE49-F238E27FC236}">
                <a16:creationId xmlns:a16="http://schemas.microsoft.com/office/drawing/2014/main" id="{74706A29-05CA-5CCA-828F-0B8DBCCB2428}"/>
              </a:ext>
            </a:extLst>
          </p:cNvPr>
          <p:cNvSpPr/>
          <p:nvPr/>
        </p:nvSpPr>
        <p:spPr>
          <a:xfrm>
            <a:off x="11050524" y="2761488"/>
            <a:ext cx="146304" cy="146304"/>
          </a:xfrm>
          <a:prstGeom prst="ellipse">
            <a:avLst/>
          </a:prstGeom>
          <a:solidFill>
            <a:srgbClr val="9FB4C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451" name="Text 61">
            <a:extLst>
              <a:ext uri="{FF2B5EF4-FFF2-40B4-BE49-F238E27FC236}">
                <a16:creationId xmlns:a16="http://schemas.microsoft.com/office/drawing/2014/main" id="{4521BF75-481C-8588-DA96-2FF32809F875}"/>
              </a:ext>
            </a:extLst>
          </p:cNvPr>
          <p:cNvSpPr txBox="1"/>
          <p:nvPr/>
        </p:nvSpPr>
        <p:spPr>
          <a:xfrm>
            <a:off x="9189720" y="306324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8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— isolates in fewer splits
</a:t>
            </a:r>
            <a:r>
              <a:rPr lang="en-US" sz="850" b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8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requires deeper paths</a:t>
            </a:r>
            <a:endParaRPr lang="en-US" sz="850" dirty="0"/>
          </a:p>
        </p:txBody>
      </p:sp>
      <p:sp>
        <p:nvSpPr>
          <p:cNvPr id="15453" name="Shape 62">
            <a:extLst>
              <a:ext uri="{FF2B5EF4-FFF2-40B4-BE49-F238E27FC236}">
                <a16:creationId xmlns:a16="http://schemas.microsoft.com/office/drawing/2014/main" id="{04974B35-04CC-D5BE-CAE0-BB9483AFF9A8}"/>
              </a:ext>
            </a:extLst>
          </p:cNvPr>
          <p:cNvSpPr/>
          <p:nvPr/>
        </p:nvSpPr>
        <p:spPr>
          <a:xfrm>
            <a:off x="9189720" y="4354906"/>
            <a:ext cx="2404872" cy="0"/>
          </a:xfrm>
          <a:prstGeom prst="line">
            <a:avLst/>
          </a:prstGeom>
          <a:noFill/>
          <a:ln w="9525">
            <a:solidFill>
              <a:srgbClr val="3C557A"/>
            </a:solidFill>
            <a:prstDash val="solid"/>
          </a:ln>
        </p:spPr>
      </p:sp>
      <p:sp>
        <p:nvSpPr>
          <p:cNvPr id="15455" name="Text 63">
            <a:extLst>
              <a:ext uri="{FF2B5EF4-FFF2-40B4-BE49-F238E27FC236}">
                <a16:creationId xmlns:a16="http://schemas.microsoft.com/office/drawing/2014/main" id="{2D60F249-914C-9EA7-353D-F60B0A9E6014}"/>
              </a:ext>
            </a:extLst>
          </p:cNvPr>
          <p:cNvSpPr txBox="1"/>
          <p:nvPr/>
        </p:nvSpPr>
        <p:spPr>
          <a:xfrm>
            <a:off x="9189720" y="446463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INVESTIGATIVE LEAD</a:t>
            </a:r>
            <a:endParaRPr lang="en-US" sz="1050" dirty="0"/>
          </a:p>
        </p:txBody>
      </p:sp>
      <p:sp>
        <p:nvSpPr>
          <p:cNvPr id="15457" name="Text 64">
            <a:extLst>
              <a:ext uri="{FF2B5EF4-FFF2-40B4-BE49-F238E27FC236}">
                <a16:creationId xmlns:a16="http://schemas.microsoft.com/office/drawing/2014/main" id="{BFABC6E8-3E87-D5E4-99BC-7374316845C7}"/>
              </a:ext>
            </a:extLst>
          </p:cNvPr>
          <p:cNvSpPr txBox="1"/>
          <p:nvPr/>
        </p:nvSpPr>
        <p:spPr>
          <a:xfrm>
            <a:off x="9189720" y="481210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5459" name="Text 65">
            <a:extLst>
              <a:ext uri="{FF2B5EF4-FFF2-40B4-BE49-F238E27FC236}">
                <a16:creationId xmlns:a16="http://schemas.microsoft.com/office/drawing/2014/main" id="{C73B49C0-8CB8-867B-8338-98EC274C7BEF}"/>
              </a:ext>
            </a:extLst>
          </p:cNvPr>
          <p:cNvSpPr txBox="1"/>
          <p:nvPr/>
        </p:nvSpPr>
        <p:spPr>
          <a:xfrm>
            <a:off x="10561320" y="4812106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(0.87)</a:t>
            </a:r>
            <a:endParaRPr lang="en-US" sz="1050" dirty="0"/>
          </a:p>
        </p:txBody>
      </p:sp>
      <p:sp>
        <p:nvSpPr>
          <p:cNvPr id="15461" name="Text 66">
            <a:extLst>
              <a:ext uri="{FF2B5EF4-FFF2-40B4-BE49-F238E27FC236}">
                <a16:creationId xmlns:a16="http://schemas.microsoft.com/office/drawing/2014/main" id="{7ABD5BBB-B53F-7A7E-B6D2-D9EEFC73022C}"/>
              </a:ext>
            </a:extLst>
          </p:cNvPr>
          <p:cNvSpPr txBox="1"/>
          <p:nvPr/>
        </p:nvSpPr>
        <p:spPr>
          <a:xfrm>
            <a:off x="9189720" y="514129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Entities</a:t>
            </a:r>
            <a:endParaRPr lang="en-US" sz="950" dirty="0"/>
          </a:p>
        </p:txBody>
      </p:sp>
      <p:sp>
        <p:nvSpPr>
          <p:cNvPr id="15463" name="Text 67">
            <a:extLst>
              <a:ext uri="{FF2B5EF4-FFF2-40B4-BE49-F238E27FC236}">
                <a16:creationId xmlns:a16="http://schemas.microsoft.com/office/drawing/2014/main" id="{0BFCA44D-6126-18F2-79F3-772E56AF1CEB}"/>
              </a:ext>
            </a:extLst>
          </p:cNvPr>
          <p:cNvSpPr txBox="1"/>
          <p:nvPr/>
        </p:nvSpPr>
        <p:spPr>
          <a:xfrm>
            <a:off x="10561320" y="514129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15465" name="Text 68">
            <a:extLst>
              <a:ext uri="{FF2B5EF4-FFF2-40B4-BE49-F238E27FC236}">
                <a16:creationId xmlns:a16="http://schemas.microsoft.com/office/drawing/2014/main" id="{5A574239-D8F1-FC5A-21A8-A97031B930A4}"/>
              </a:ext>
            </a:extLst>
          </p:cNvPr>
          <p:cNvSpPr txBox="1"/>
          <p:nvPr/>
        </p:nvSpPr>
        <p:spPr>
          <a:xfrm>
            <a:off x="9189720" y="547047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Evidence</a:t>
            </a:r>
            <a:endParaRPr lang="en-US" sz="950" dirty="0"/>
          </a:p>
        </p:txBody>
      </p:sp>
      <p:sp>
        <p:nvSpPr>
          <p:cNvPr id="15467" name="Text 69">
            <a:extLst>
              <a:ext uri="{FF2B5EF4-FFF2-40B4-BE49-F238E27FC236}">
                <a16:creationId xmlns:a16="http://schemas.microsoft.com/office/drawing/2014/main" id="{FE4262F5-9F8F-E746-9BB4-CB8A016497F9}"/>
              </a:ext>
            </a:extLst>
          </p:cNvPr>
          <p:cNvSpPr txBox="1"/>
          <p:nvPr/>
        </p:nvSpPr>
        <p:spPr>
          <a:xfrm>
            <a:off x="10561320" y="5470474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15469" name="Text 70">
            <a:extLst>
              <a:ext uri="{FF2B5EF4-FFF2-40B4-BE49-F238E27FC236}">
                <a16:creationId xmlns:a16="http://schemas.microsoft.com/office/drawing/2014/main" id="{5F6E78AC-0A93-080A-A0E2-02E52677B722}"/>
              </a:ext>
            </a:extLst>
          </p:cNvPr>
          <p:cNvSpPr txBox="1"/>
          <p:nvPr/>
        </p:nvSpPr>
        <p:spPr>
          <a:xfrm>
            <a:off x="9189720" y="579965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Priority</a:t>
            </a:r>
            <a:endParaRPr lang="en-US" sz="950" dirty="0"/>
          </a:p>
        </p:txBody>
      </p:sp>
      <p:sp>
        <p:nvSpPr>
          <p:cNvPr id="15471" name="Text 71">
            <a:extLst>
              <a:ext uri="{FF2B5EF4-FFF2-40B4-BE49-F238E27FC236}">
                <a16:creationId xmlns:a16="http://schemas.microsoft.com/office/drawing/2014/main" id="{F6E08F2D-A6FB-453F-A9B8-99805A8FD76B}"/>
              </a:ext>
            </a:extLst>
          </p:cNvPr>
          <p:cNvSpPr txBox="1"/>
          <p:nvPr/>
        </p:nvSpPr>
        <p:spPr>
          <a:xfrm>
            <a:off x="10561320" y="579965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15472" name="TextBox 15471">
            <a:extLst>
              <a:ext uri="{FF2B5EF4-FFF2-40B4-BE49-F238E27FC236}">
                <a16:creationId xmlns:a16="http://schemas.microsoft.com/office/drawing/2014/main" id="{94A900C1-77CF-9F57-C88B-D616B0C352E3}"/>
              </a:ext>
            </a:extLst>
          </p:cNvPr>
          <p:cNvSpPr txBox="1"/>
          <p:nvPr/>
        </p:nvSpPr>
        <p:spPr>
          <a:xfrm>
            <a:off x="292100" y="240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046DD-B9D6-F397-8D1D-1B6B0E0B47A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7967" t="21238" r="15314" b="50853"/>
          <a:stretch>
            <a:fillRect/>
          </a:stretch>
        </p:blipFill>
        <p:spPr>
          <a:xfrm>
            <a:off x="9151620" y="1895259"/>
            <a:ext cx="2465196" cy="23376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5210" y="57097"/>
            <a:ext cx="1655276" cy="84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0A4CEE-D674-AE43-C27E-BFAC1456BF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0" t="3760" r="25392" b="4236"/>
          <a:stretch>
            <a:fillRect/>
          </a:stretch>
        </p:blipFill>
        <p:spPr>
          <a:xfrm>
            <a:off x="122883" y="57098"/>
            <a:ext cx="801791" cy="833862"/>
          </a:xfrm>
          <a:prstGeom prst="rect">
            <a:avLst/>
          </a:prstGeom>
        </p:spPr>
      </p:pic>
      <p:pic>
        <p:nvPicPr>
          <p:cNvPr id="8" name="Image 0" descr="/home/claude/icons/checkBadge_white.png">
            <a:extLst>
              <a:ext uri="{FF2B5EF4-FFF2-40B4-BE49-F238E27FC236}">
                <a16:creationId xmlns:a16="http://schemas.microsoft.com/office/drawing/2014/main" id="{D07C57DB-0DF0-B496-0E58-ECE344937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47" y="960120"/>
            <a:ext cx="237744" cy="237744"/>
          </a:xfrm>
          <a:prstGeom prst="rect">
            <a:avLst/>
          </a:prstGeom>
        </p:spPr>
      </p:pic>
      <p:pic>
        <p:nvPicPr>
          <p:cNvPr id="17572" name="Image 0" descr="/home/claude/icons/checkBadge_white.png">
            <a:extLst>
              <a:ext uri="{FF2B5EF4-FFF2-40B4-BE49-F238E27FC236}">
                <a16:creationId xmlns:a16="http://schemas.microsoft.com/office/drawing/2014/main" id="{72B450BB-8FFB-2994-0BD2-D86D8F113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955" y="3638487"/>
            <a:ext cx="237744" cy="2377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F4A6FF-70DC-F97C-C203-D0335E2211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636"/>
          <a:stretch>
            <a:fillRect/>
          </a:stretch>
        </p:blipFill>
        <p:spPr>
          <a:xfrm>
            <a:off x="2980" y="908648"/>
            <a:ext cx="11031465" cy="5299820"/>
          </a:xfrm>
          <a:prstGeom prst="rect">
            <a:avLst/>
          </a:prstGeom>
        </p:spPr>
      </p:pic>
      <p:pic>
        <p:nvPicPr>
          <p:cNvPr id="17" name="Picture 16" descr="Google drive - Free networking icons">
            <a:hlinkClick r:id="rId7"/>
            <a:extLst>
              <a:ext uri="{FF2B5EF4-FFF2-40B4-BE49-F238E27FC236}">
                <a16:creationId xmlns:a16="http://schemas.microsoft.com/office/drawing/2014/main" id="{B68201F2-1B20-6CA0-73A9-DCCEED448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5926" y="2539866"/>
            <a:ext cx="1012371" cy="10123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3E34F25-4CDC-E26B-C66E-AC8A06504ACB}"/>
              </a:ext>
            </a:extLst>
          </p:cNvPr>
          <p:cNvSpPr txBox="1"/>
          <p:nvPr/>
        </p:nvSpPr>
        <p:spPr>
          <a:xfrm>
            <a:off x="10842335" y="3545403"/>
            <a:ext cx="1208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Full Report</a:t>
            </a:r>
          </a:p>
        </p:txBody>
      </p:sp>
      <p:pic>
        <p:nvPicPr>
          <p:cNvPr id="22" name="Picture 21" descr="Youtube - Free logo icons">
            <a:hlinkClick r:id="rId9"/>
            <a:extLst>
              <a:ext uri="{FF2B5EF4-FFF2-40B4-BE49-F238E27FC236}">
                <a16:creationId xmlns:a16="http://schemas.microsoft.com/office/drawing/2014/main" id="{F5B66904-BC9A-F253-F200-C10F5B4AD3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2335" y="4147904"/>
            <a:ext cx="1258687" cy="12586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2923025-88B0-B89D-82B6-B1FFC7FCBC9B}"/>
              </a:ext>
            </a:extLst>
          </p:cNvPr>
          <p:cNvSpPr txBox="1"/>
          <p:nvPr/>
        </p:nvSpPr>
        <p:spPr>
          <a:xfrm>
            <a:off x="10985753" y="5273347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Explainer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F315EC-03A8-37AC-4BF9-C4AB408809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56" y="136522"/>
            <a:ext cx="845121" cy="846695"/>
          </a:xfrm>
          <a:prstGeom prst="rect">
            <a:avLst/>
          </a:prstGeom>
        </p:spPr>
      </p:pic>
      <p:pic>
        <p:nvPicPr>
          <p:cNvPr id="2" name="Picture 1" descr="Github - Free logo icons">
            <a:hlinkClick r:id="rId12"/>
            <a:extLst>
              <a:ext uri="{FF2B5EF4-FFF2-40B4-BE49-F238E27FC236}">
                <a16:creationId xmlns:a16="http://schemas.microsoft.com/office/drawing/2014/main" id="{CCDC96D7-CC99-C3AA-EAB3-63C49EADB8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16415" y="898947"/>
            <a:ext cx="1152702" cy="11527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A6B935-D37D-1EF8-4F20-2A965CB13DBE}"/>
              </a:ext>
            </a:extLst>
          </p:cNvPr>
          <p:cNvSpPr txBox="1"/>
          <p:nvPr/>
        </p:nvSpPr>
        <p:spPr>
          <a:xfrm>
            <a:off x="10888690" y="2078837"/>
            <a:ext cx="1359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Source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71B3-EE9C-786C-F0DA-12BA009B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AAB8E5-7003-7438-B8BF-96E087DC3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756C282-2B0A-422A-B33A-0C4DC7DC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C82AA-981E-5AAF-64C8-E0C716B0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CF1497-B5E8-5AC0-20FE-FE96E8AA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757806EC-5B96-0390-6894-20373929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16EA7C-7AB0-EEDC-EC90-C5D73EE5D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488" y="3604708"/>
            <a:ext cx="9617528" cy="3205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E1B9C4-55E3-92B8-1CC5-1BCF0795FB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20" t="3760" r="25392" b="4236"/>
          <a:stretch>
            <a:fillRect/>
          </a:stretch>
        </p:blipFill>
        <p:spPr>
          <a:xfrm>
            <a:off x="122883" y="57097"/>
            <a:ext cx="973434" cy="1012371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8669324B-EEC2-3FF2-D7ED-CB65BAF1217F}"/>
              </a:ext>
            </a:extLst>
          </p:cNvPr>
          <p:cNvSpPr/>
          <p:nvPr/>
        </p:nvSpPr>
        <p:spPr>
          <a:xfrm>
            <a:off x="411479" y="1090517"/>
            <a:ext cx="2450592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2B21994-CF8B-83BD-705F-2472C87DE66B}"/>
              </a:ext>
            </a:extLst>
          </p:cNvPr>
          <p:cNvSpPr txBox="1"/>
          <p:nvPr/>
        </p:nvSpPr>
        <p:spPr>
          <a:xfrm>
            <a:off x="484631" y="1090517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A41CBF5-AD55-4BAA-3536-B7787C0681E8}"/>
              </a:ext>
            </a:extLst>
          </p:cNvPr>
          <p:cNvSpPr txBox="1"/>
          <p:nvPr/>
        </p:nvSpPr>
        <p:spPr>
          <a:xfrm>
            <a:off x="777239" y="1090517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VECTOR CORE</a:t>
            </a:r>
            <a:endParaRPr lang="en-US" sz="105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E16788C-2670-7849-1A31-CBE96EA9F468}"/>
              </a:ext>
            </a:extLst>
          </p:cNvPr>
          <p:cNvSpPr/>
          <p:nvPr/>
        </p:nvSpPr>
        <p:spPr>
          <a:xfrm>
            <a:off x="429767" y="1607153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57FC02C-9CBB-52B1-7C9B-C3A2128CC0C2}"/>
              </a:ext>
            </a:extLst>
          </p:cNvPr>
          <p:cNvSpPr txBox="1"/>
          <p:nvPr/>
        </p:nvSpPr>
        <p:spPr>
          <a:xfrm>
            <a:off x="576071" y="154690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pipeline</a:t>
            </a:r>
            <a:endParaRPr lang="en-US" sz="12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67CC41FC-49CD-70BF-C571-F03A777ADA99}"/>
              </a:ext>
            </a:extLst>
          </p:cNvPr>
          <p:cNvSpPr/>
          <p:nvPr/>
        </p:nvSpPr>
        <p:spPr>
          <a:xfrm>
            <a:off x="429767" y="2023205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13890EA-8ECC-A368-A1E3-24D0AD291BC3}"/>
              </a:ext>
            </a:extLst>
          </p:cNvPr>
          <p:cNvSpPr txBox="1"/>
          <p:nvPr/>
        </p:nvSpPr>
        <p:spPr>
          <a:xfrm>
            <a:off x="576071" y="1950053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engine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scoring</a:t>
            </a:r>
            <a:endParaRPr lang="en-US" sz="12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8628D2CC-F0FB-6E60-C4DE-279E6CC9C9F7}"/>
              </a:ext>
            </a:extLst>
          </p:cNvPr>
          <p:cNvSpPr/>
          <p:nvPr/>
        </p:nvSpPr>
        <p:spPr>
          <a:xfrm>
            <a:off x="429767" y="2407253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69204DCC-6417-46B2-288A-E3224332C357}"/>
              </a:ext>
            </a:extLst>
          </p:cNvPr>
          <p:cNvSpPr txBox="1"/>
          <p:nvPr/>
        </p:nvSpPr>
        <p:spPr>
          <a:xfrm>
            <a:off x="576071" y="2334101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clustering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HDBSCAN</a:t>
            </a:r>
            <a:endParaRPr lang="en-US" sz="12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5C5B20CD-5AA4-CBCB-FD86-037D10ADE4AB}"/>
              </a:ext>
            </a:extLst>
          </p:cNvPr>
          <p:cNvSpPr/>
          <p:nvPr/>
        </p:nvSpPr>
        <p:spPr>
          <a:xfrm>
            <a:off x="429767" y="2791301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12600E7-E6DF-C1B0-632B-083001617C9E}"/>
              </a:ext>
            </a:extLst>
          </p:cNvPr>
          <p:cNvSpPr txBox="1"/>
          <p:nvPr/>
        </p:nvSpPr>
        <p:spPr>
          <a:xfrm>
            <a:off x="576071" y="2718149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cluster-specific detection</a:t>
            </a:r>
            <a:endParaRPr lang="en-US" sz="12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84A002FB-EF59-7793-2950-C250075FAF5A}"/>
              </a:ext>
            </a:extLst>
          </p:cNvPr>
          <p:cNvSpPr/>
          <p:nvPr/>
        </p:nvSpPr>
        <p:spPr>
          <a:xfrm>
            <a:off x="429767" y="3175349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DF3422E2-D5D6-4099-F09A-2E226B36C7A4}"/>
              </a:ext>
            </a:extLst>
          </p:cNvPr>
          <p:cNvSpPr txBox="1"/>
          <p:nvPr/>
        </p:nvSpPr>
        <p:spPr>
          <a:xfrm>
            <a:off x="576071" y="3102197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fallback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/ sparse entities</a:t>
            </a:r>
            <a:endParaRPr lang="en-US" sz="120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83BCB998-C7B7-57C9-6CB2-ABE42C10ADC5}"/>
              </a:ext>
            </a:extLst>
          </p:cNvPr>
          <p:cNvSpPr/>
          <p:nvPr/>
        </p:nvSpPr>
        <p:spPr>
          <a:xfrm>
            <a:off x="429767" y="355939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B3C363E6-22ED-5FFD-CC2D-37347930FF4D}"/>
              </a:ext>
            </a:extLst>
          </p:cNvPr>
          <p:cNvSpPr txBox="1"/>
          <p:nvPr/>
        </p:nvSpPr>
        <p:spPr>
          <a:xfrm>
            <a:off x="576072" y="3486245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&amp; alerts</a:t>
            </a:r>
            <a:endParaRPr lang="en-US" sz="1200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93222E33-8A97-90E7-B913-AB30300B5B98}"/>
              </a:ext>
            </a:extLst>
          </p:cNvPr>
          <p:cNvSpPr/>
          <p:nvPr/>
        </p:nvSpPr>
        <p:spPr>
          <a:xfrm>
            <a:off x="3044951" y="1090517"/>
            <a:ext cx="2450592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D76E9556-26AF-4DF6-772F-3BD53C8A9B17}"/>
              </a:ext>
            </a:extLst>
          </p:cNvPr>
          <p:cNvSpPr txBox="1"/>
          <p:nvPr/>
        </p:nvSpPr>
        <p:spPr>
          <a:xfrm>
            <a:off x="3118103" y="1090517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DA7E0DDB-0017-8201-5E94-C95CEE10BEE8}"/>
              </a:ext>
            </a:extLst>
          </p:cNvPr>
          <p:cNvSpPr txBox="1"/>
          <p:nvPr/>
        </p:nvSpPr>
        <p:spPr>
          <a:xfrm>
            <a:off x="3410711" y="1090517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ADAPTATION</a:t>
            </a:r>
            <a:endParaRPr lang="en-US" sz="105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BFC2A06F-2AF8-94A8-3800-A5CD9D6DC522}"/>
              </a:ext>
            </a:extLst>
          </p:cNvPr>
          <p:cNvSpPr/>
          <p:nvPr/>
        </p:nvSpPr>
        <p:spPr>
          <a:xfrm>
            <a:off x="3063239" y="163915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765A3A0D-F252-BF87-A2F5-9FD83C75E68D}"/>
              </a:ext>
            </a:extLst>
          </p:cNvPr>
          <p:cNvSpPr txBox="1"/>
          <p:nvPr/>
        </p:nvSpPr>
        <p:spPr>
          <a:xfrm>
            <a:off x="3209543" y="1566005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UTXO &amp; transaction features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time, I/O, fees</a:t>
            </a:r>
            <a:endParaRPr lang="en-US" sz="1200" dirty="0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B3EAEABC-BCA7-03F2-1ED1-65C58008F381}"/>
              </a:ext>
            </a:extLst>
          </p:cNvPr>
          <p:cNvSpPr/>
          <p:nvPr/>
        </p:nvSpPr>
        <p:spPr>
          <a:xfrm>
            <a:off x="3063239" y="2023205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0D912FA5-F50E-9743-F27F-2B61D744BA19}"/>
              </a:ext>
            </a:extLst>
          </p:cNvPr>
          <p:cNvSpPr txBox="1"/>
          <p:nvPr/>
        </p:nvSpPr>
        <p:spPr>
          <a:xfrm>
            <a:off x="3209543" y="1950053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/ entity profiling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profile per entity</a:t>
            </a:r>
            <a:endParaRPr lang="en-US" sz="1200" dirty="0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8BFB3F07-84C8-229C-0E7F-3D6FA4AD91D2}"/>
              </a:ext>
            </a:extLst>
          </p:cNvPr>
          <p:cNvSpPr/>
          <p:nvPr/>
        </p:nvSpPr>
        <p:spPr>
          <a:xfrm>
            <a:off x="3063239" y="2407253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B3603C4A-6A3D-8373-34BB-2A6B53217993}"/>
              </a:ext>
            </a:extLst>
          </p:cNvPr>
          <p:cNvSpPr txBox="1"/>
          <p:nvPr/>
        </p:nvSpPr>
        <p:spPr>
          <a:xfrm>
            <a:off x="3209543" y="2334101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communities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addresses by behavior</a:t>
            </a:r>
            <a:endParaRPr lang="en-US" sz="120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90A52946-D110-68D2-042C-DDB81D6A8910}"/>
              </a:ext>
            </a:extLst>
          </p:cNvPr>
          <p:cNvSpPr/>
          <p:nvPr/>
        </p:nvSpPr>
        <p:spPr>
          <a:xfrm>
            <a:off x="3063239" y="2791301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C7F1D340-B816-D952-FB02-74342ED66A88}"/>
              </a:ext>
            </a:extLst>
          </p:cNvPr>
          <p:cNvSpPr txBox="1"/>
          <p:nvPr/>
        </p:nvSpPr>
        <p:spPr>
          <a:xfrm>
            <a:off x="3209543" y="2718149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Transaction-flow patterns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inflow/outflow, hops, chains</a:t>
            </a:r>
            <a:endParaRPr lang="en-US" sz="1200" dirty="0"/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BBD00E27-151A-3B9C-09BF-F1647B225AB5}"/>
              </a:ext>
            </a:extLst>
          </p:cNvPr>
          <p:cNvSpPr/>
          <p:nvPr/>
        </p:nvSpPr>
        <p:spPr>
          <a:xfrm>
            <a:off x="3063239" y="3175349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10" name="Text 30">
            <a:extLst>
              <a:ext uri="{FF2B5EF4-FFF2-40B4-BE49-F238E27FC236}">
                <a16:creationId xmlns:a16="http://schemas.microsoft.com/office/drawing/2014/main" id="{F6F9E5C4-E81E-A885-2EDF-3A2A04301F82}"/>
              </a:ext>
            </a:extLst>
          </p:cNvPr>
          <p:cNvSpPr txBox="1"/>
          <p:nvPr/>
        </p:nvSpPr>
        <p:spPr>
          <a:xfrm>
            <a:off x="3209543" y="3102197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frequency, periodicity</a:t>
            </a:r>
            <a:endParaRPr lang="en-US" sz="1200" dirty="0"/>
          </a:p>
        </p:txBody>
      </p:sp>
      <p:sp>
        <p:nvSpPr>
          <p:cNvPr id="17412" name="Shape 31">
            <a:extLst>
              <a:ext uri="{FF2B5EF4-FFF2-40B4-BE49-F238E27FC236}">
                <a16:creationId xmlns:a16="http://schemas.microsoft.com/office/drawing/2014/main" id="{4F879BDE-647B-6022-F33A-C179496F0BC5}"/>
              </a:ext>
            </a:extLst>
          </p:cNvPr>
          <p:cNvSpPr/>
          <p:nvPr/>
        </p:nvSpPr>
        <p:spPr>
          <a:xfrm>
            <a:off x="3063239" y="355939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14" name="Text 32">
            <a:extLst>
              <a:ext uri="{FF2B5EF4-FFF2-40B4-BE49-F238E27FC236}">
                <a16:creationId xmlns:a16="http://schemas.microsoft.com/office/drawing/2014/main" id="{024D8EFD-C263-67C4-F50C-270B441F494B}"/>
              </a:ext>
            </a:extLst>
          </p:cNvPr>
          <p:cNvSpPr txBox="1"/>
          <p:nvPr/>
        </p:nvSpPr>
        <p:spPr>
          <a:xfrm>
            <a:off x="3202822" y="3486245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clustering &amp; updating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reclusters as behavior evolves</a:t>
            </a:r>
            <a:endParaRPr lang="en-US" sz="1200" dirty="0"/>
          </a:p>
        </p:txBody>
      </p:sp>
      <p:sp>
        <p:nvSpPr>
          <p:cNvPr id="17416" name="Shape 33">
            <a:extLst>
              <a:ext uri="{FF2B5EF4-FFF2-40B4-BE49-F238E27FC236}">
                <a16:creationId xmlns:a16="http://schemas.microsoft.com/office/drawing/2014/main" id="{CB3D27D0-273B-C8BF-0C3E-81F222E69FBE}"/>
              </a:ext>
            </a:extLst>
          </p:cNvPr>
          <p:cNvSpPr/>
          <p:nvPr/>
        </p:nvSpPr>
        <p:spPr>
          <a:xfrm>
            <a:off x="5678423" y="1090517"/>
            <a:ext cx="2450592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418" name="Text 34">
            <a:extLst>
              <a:ext uri="{FF2B5EF4-FFF2-40B4-BE49-F238E27FC236}">
                <a16:creationId xmlns:a16="http://schemas.microsoft.com/office/drawing/2014/main" id="{3ADDB994-057C-ECDC-1C37-01DFE85C481E}"/>
              </a:ext>
            </a:extLst>
          </p:cNvPr>
          <p:cNvSpPr txBox="1"/>
          <p:nvPr/>
        </p:nvSpPr>
        <p:spPr>
          <a:xfrm>
            <a:off x="5751575" y="1090517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420" name="Text 35">
            <a:extLst>
              <a:ext uri="{FF2B5EF4-FFF2-40B4-BE49-F238E27FC236}">
                <a16:creationId xmlns:a16="http://schemas.microsoft.com/office/drawing/2014/main" id="{A564061F-5D3C-1503-F5D3-7C2337D5B20A}"/>
              </a:ext>
            </a:extLst>
          </p:cNvPr>
          <p:cNvSpPr txBox="1"/>
          <p:nvPr/>
        </p:nvSpPr>
        <p:spPr>
          <a:xfrm>
            <a:off x="6044183" y="1090517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DEPLOYMENT</a:t>
            </a:r>
            <a:endParaRPr lang="en-US" sz="1050" dirty="0"/>
          </a:p>
        </p:txBody>
      </p:sp>
      <p:sp>
        <p:nvSpPr>
          <p:cNvPr id="17422" name="Shape 36">
            <a:extLst>
              <a:ext uri="{FF2B5EF4-FFF2-40B4-BE49-F238E27FC236}">
                <a16:creationId xmlns:a16="http://schemas.microsoft.com/office/drawing/2014/main" id="{A5F16B8D-DAF8-0283-56E6-57F948417F7D}"/>
              </a:ext>
            </a:extLst>
          </p:cNvPr>
          <p:cNvSpPr/>
          <p:nvPr/>
        </p:nvSpPr>
        <p:spPr>
          <a:xfrm>
            <a:off x="5696711" y="163915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24" name="Text 37">
            <a:extLst>
              <a:ext uri="{FF2B5EF4-FFF2-40B4-BE49-F238E27FC236}">
                <a16:creationId xmlns:a16="http://schemas.microsoft.com/office/drawing/2014/main" id="{576273BF-019C-A34E-DA19-DCD57EDB7CA6}"/>
              </a:ext>
            </a:extLst>
          </p:cNvPr>
          <p:cNvSpPr txBox="1"/>
          <p:nvPr/>
        </p:nvSpPr>
        <p:spPr>
          <a:xfrm>
            <a:off x="5843015" y="1498875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analyze &amp; learn 24/7</a:t>
            </a:r>
            <a:endParaRPr lang="en-US" sz="1200" dirty="0"/>
          </a:p>
        </p:txBody>
      </p:sp>
      <p:sp>
        <p:nvSpPr>
          <p:cNvPr id="17426" name="Shape 38">
            <a:extLst>
              <a:ext uri="{FF2B5EF4-FFF2-40B4-BE49-F238E27FC236}">
                <a16:creationId xmlns:a16="http://schemas.microsoft.com/office/drawing/2014/main" id="{733B9F3B-92C1-7BE9-7CDA-25B530424EAF}"/>
              </a:ext>
            </a:extLst>
          </p:cNvPr>
          <p:cNvSpPr/>
          <p:nvPr/>
        </p:nvSpPr>
        <p:spPr>
          <a:xfrm>
            <a:off x="5696711" y="209635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28" name="Text 39">
            <a:extLst>
              <a:ext uri="{FF2B5EF4-FFF2-40B4-BE49-F238E27FC236}">
                <a16:creationId xmlns:a16="http://schemas.microsoft.com/office/drawing/2014/main" id="{2A23056C-DE19-AC9C-82CD-643455F0A46E}"/>
              </a:ext>
            </a:extLst>
          </p:cNvPr>
          <p:cNvSpPr txBox="1"/>
          <p:nvPr/>
        </p:nvSpPr>
        <p:spPr>
          <a:xfrm>
            <a:off x="5843015" y="19830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anomalies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risk scoring</a:t>
            </a:r>
            <a:endParaRPr lang="en-US" sz="1200" dirty="0"/>
          </a:p>
        </p:txBody>
      </p:sp>
      <p:sp>
        <p:nvSpPr>
          <p:cNvPr id="17430" name="Shape 40">
            <a:extLst>
              <a:ext uri="{FF2B5EF4-FFF2-40B4-BE49-F238E27FC236}">
                <a16:creationId xmlns:a16="http://schemas.microsoft.com/office/drawing/2014/main" id="{9AC148B3-24F5-7B19-5810-418F47ED3E1B}"/>
              </a:ext>
            </a:extLst>
          </p:cNvPr>
          <p:cNvSpPr/>
          <p:nvPr/>
        </p:nvSpPr>
        <p:spPr>
          <a:xfrm>
            <a:off x="5696711" y="255355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32" name="Text 41">
            <a:extLst>
              <a:ext uri="{FF2B5EF4-FFF2-40B4-BE49-F238E27FC236}">
                <a16:creationId xmlns:a16="http://schemas.microsoft.com/office/drawing/2014/main" id="{BE270E41-BE5A-26A8-33A2-2C52AE4E6DA5}"/>
              </a:ext>
            </a:extLst>
          </p:cNvPr>
          <p:cNvSpPr txBox="1"/>
          <p:nvPr/>
        </p:nvSpPr>
        <p:spPr>
          <a:xfrm>
            <a:off x="5843015" y="2438825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leads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entities, patterns</a:t>
            </a:r>
            <a:endParaRPr lang="en-US" sz="1200" dirty="0"/>
          </a:p>
        </p:txBody>
      </p:sp>
      <p:sp>
        <p:nvSpPr>
          <p:cNvPr id="17434" name="Shape 42">
            <a:extLst>
              <a:ext uri="{FF2B5EF4-FFF2-40B4-BE49-F238E27FC236}">
                <a16:creationId xmlns:a16="http://schemas.microsoft.com/office/drawing/2014/main" id="{C914F840-616E-BF62-AD07-BFD9864CAA46}"/>
              </a:ext>
            </a:extLst>
          </p:cNvPr>
          <p:cNvSpPr/>
          <p:nvPr/>
        </p:nvSpPr>
        <p:spPr>
          <a:xfrm>
            <a:off x="5696711" y="301075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36" name="Text 43">
            <a:extLst>
              <a:ext uri="{FF2B5EF4-FFF2-40B4-BE49-F238E27FC236}">
                <a16:creationId xmlns:a16="http://schemas.microsoft.com/office/drawing/2014/main" id="{E6F656FC-E311-A1F9-65DA-46AB9AF07E9D}"/>
              </a:ext>
            </a:extLst>
          </p:cNvPr>
          <p:cNvSpPr txBox="1"/>
          <p:nvPr/>
        </p:nvSpPr>
        <p:spPr>
          <a:xfrm>
            <a:off x="5843015" y="2906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investigation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with full context</a:t>
            </a:r>
            <a:endParaRPr lang="en-US" sz="1200" dirty="0"/>
          </a:p>
        </p:txBody>
      </p:sp>
      <p:sp>
        <p:nvSpPr>
          <p:cNvPr id="17438" name="Shape 44">
            <a:extLst>
              <a:ext uri="{FF2B5EF4-FFF2-40B4-BE49-F238E27FC236}">
                <a16:creationId xmlns:a16="http://schemas.microsoft.com/office/drawing/2014/main" id="{422B60EA-8D20-0316-9A79-B003523498C0}"/>
              </a:ext>
            </a:extLst>
          </p:cNvPr>
          <p:cNvSpPr/>
          <p:nvPr/>
        </p:nvSpPr>
        <p:spPr>
          <a:xfrm>
            <a:off x="5696711" y="3467957"/>
            <a:ext cx="64008" cy="64008"/>
          </a:xfrm>
          <a:prstGeom prst="ellipse">
            <a:avLst/>
          </a:prstGeom>
          <a:solidFill>
            <a:srgbClr val="B8752E"/>
          </a:solidFill>
          <a:ln w="12700">
            <a:solidFill>
              <a:srgbClr val="B8752E"/>
            </a:solidFill>
            <a:prstDash val="solid"/>
          </a:ln>
        </p:spPr>
      </p:sp>
      <p:sp>
        <p:nvSpPr>
          <p:cNvPr id="17440" name="Text 45">
            <a:extLst>
              <a:ext uri="{FF2B5EF4-FFF2-40B4-BE49-F238E27FC236}">
                <a16:creationId xmlns:a16="http://schemas.microsoft.com/office/drawing/2014/main" id="{81C57A5C-C345-75B9-40BA-91A36183CF58}"/>
              </a:ext>
            </a:extLst>
          </p:cNvPr>
          <p:cNvSpPr txBox="1"/>
          <p:nvPr/>
        </p:nvSpPr>
        <p:spPr>
          <a:xfrm>
            <a:off x="5843015" y="3351055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strategic decisions</a:t>
            </a:r>
            <a:endParaRPr lang="en-US" sz="1200" dirty="0"/>
          </a:p>
        </p:txBody>
      </p:sp>
      <p:sp>
        <p:nvSpPr>
          <p:cNvPr id="17442" name="Text 46">
            <a:extLst>
              <a:ext uri="{FF2B5EF4-FFF2-40B4-BE49-F238E27FC236}">
                <a16:creationId xmlns:a16="http://schemas.microsoft.com/office/drawing/2014/main" id="{276C2E0B-8BB8-3290-6B54-52FC6CA86186}"/>
              </a:ext>
            </a:extLst>
          </p:cNvPr>
          <p:cNvSpPr txBox="1"/>
          <p:nvPr/>
        </p:nvSpPr>
        <p:spPr>
          <a:xfrm>
            <a:off x="8357615" y="1090517"/>
            <a:ext cx="3422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3D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1400" dirty="0"/>
          </a:p>
        </p:txBody>
      </p:sp>
      <p:graphicFrame>
        <p:nvGraphicFramePr>
          <p:cNvPr id="17444" name="Table 0">
            <a:extLst>
              <a:ext uri="{FF2B5EF4-FFF2-40B4-BE49-F238E27FC236}">
                <a16:creationId xmlns:a16="http://schemas.microsoft.com/office/drawing/2014/main" id="{9C503B7D-FF1E-E966-4CF0-380C247AA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700060"/>
              </p:ext>
            </p:extLst>
          </p:nvPr>
        </p:nvGraphicFramePr>
        <p:xfrm>
          <a:off x="8357615" y="1401413"/>
          <a:ext cx="3422599" cy="2389632"/>
        </p:xfrm>
        <a:graphic>
          <a:graphicData uri="http://schemas.openxmlformats.org/drawingml/2006/table">
            <a:tbl>
              <a:tblPr/>
              <a:tblGrid>
                <a:gridCol w="1437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Sparse / new entities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03D"/>
                          </a:solidFill>
                        </a:rPr>
                        <a:t>XGBoost cold-start model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Evolving behavior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03D"/>
                          </a:solidFill>
                        </a:rPr>
                        <a:t>Dynamic reclustering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False positives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03D"/>
                          </a:solidFill>
                        </a:rPr>
                        <a:t>Contextual cluster-specific detection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Analyst overload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03D"/>
                          </a:solidFill>
                        </a:rPr>
                        <a:t>Risk-based prioritization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</a:rPr>
                        <a:t>Model opacity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303D"/>
                          </a:solidFill>
                        </a:rPr>
                        <a:t>Evidence-backed lead generation</a:t>
                      </a:r>
                      <a:endParaRPr lang="en-US" sz="11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52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1741034" cy="88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F5AB04-C8FC-818F-B8C5-994B53EC45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0" t="3760" r="25392" b="4236"/>
          <a:stretch>
            <a:fillRect/>
          </a:stretch>
        </p:blipFill>
        <p:spPr>
          <a:xfrm>
            <a:off x="122883" y="57097"/>
            <a:ext cx="973434" cy="10123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80ADBD-9029-F346-F64B-3B47ECD4C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14" y="1095375"/>
            <a:ext cx="3527239" cy="48917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83E330-87D9-E89D-619E-EFC42D3B4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753" y="897177"/>
            <a:ext cx="4605712" cy="5273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0FBEB7-9AC4-B630-459F-0A6BF2C89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9491" y="974272"/>
            <a:ext cx="3549382" cy="50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160" y="57097"/>
            <a:ext cx="1626326" cy="82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259843-8F29-1E88-A9E9-B8B93B347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0" t="3760" r="25392" b="4236"/>
          <a:stretch>
            <a:fillRect/>
          </a:stretch>
        </p:blipFill>
        <p:spPr>
          <a:xfrm>
            <a:off x="122883" y="57097"/>
            <a:ext cx="973434" cy="1012371"/>
          </a:xfrm>
          <a:prstGeom prst="rect">
            <a:avLst/>
          </a:prstGeom>
        </p:spPr>
      </p:pic>
      <p:sp>
        <p:nvSpPr>
          <p:cNvPr id="17453" name="Shape 3">
            <a:extLst>
              <a:ext uri="{FF2B5EF4-FFF2-40B4-BE49-F238E27FC236}">
                <a16:creationId xmlns:a16="http://schemas.microsoft.com/office/drawing/2014/main" id="{1911DB43-DFBC-578A-5FE7-D51BF5FFE24E}"/>
              </a:ext>
            </a:extLst>
          </p:cNvPr>
          <p:cNvSpPr/>
          <p:nvPr/>
        </p:nvSpPr>
        <p:spPr>
          <a:xfrm>
            <a:off x="411632" y="1115568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54" name="Shape 4">
            <a:extLst>
              <a:ext uri="{FF2B5EF4-FFF2-40B4-BE49-F238E27FC236}">
                <a16:creationId xmlns:a16="http://schemas.microsoft.com/office/drawing/2014/main" id="{162B897E-200A-54F8-3B0C-CDBE5F936AE5}"/>
              </a:ext>
            </a:extLst>
          </p:cNvPr>
          <p:cNvSpPr/>
          <p:nvPr/>
        </p:nvSpPr>
        <p:spPr>
          <a:xfrm>
            <a:off x="503072" y="1207008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55" name="Text 5">
            <a:extLst>
              <a:ext uri="{FF2B5EF4-FFF2-40B4-BE49-F238E27FC236}">
                <a16:creationId xmlns:a16="http://schemas.microsoft.com/office/drawing/2014/main" id="{CC1290F9-F4FE-12BB-49DF-52515E0252B8}"/>
              </a:ext>
            </a:extLst>
          </p:cNvPr>
          <p:cNvSpPr txBox="1"/>
          <p:nvPr/>
        </p:nvSpPr>
        <p:spPr>
          <a:xfrm>
            <a:off x="503072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456" name="Text 6">
            <a:extLst>
              <a:ext uri="{FF2B5EF4-FFF2-40B4-BE49-F238E27FC236}">
                <a16:creationId xmlns:a16="http://schemas.microsoft.com/office/drawing/2014/main" id="{5C943FFD-EDBA-449E-D2E9-239B9F60740F}"/>
              </a:ext>
            </a:extLst>
          </p:cNvPr>
          <p:cNvSpPr txBox="1"/>
          <p:nvPr/>
        </p:nvSpPr>
        <p:spPr>
          <a:xfrm>
            <a:off x="850544" y="1170432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Bitcoin Network Using Unsupervised Learning Methods - Pham &amp; Lee (2016)</a:t>
            </a:r>
            <a:endParaRPr lang="en-US" sz="1100" dirty="0"/>
          </a:p>
        </p:txBody>
      </p:sp>
      <p:sp>
        <p:nvSpPr>
          <p:cNvPr id="17457" name="Text 7">
            <a:extLst>
              <a:ext uri="{FF2B5EF4-FFF2-40B4-BE49-F238E27FC236}">
                <a16:creationId xmlns:a16="http://schemas.microsoft.com/office/drawing/2014/main" id="{05D15B5D-6BE6-A872-5D59-1AFE62541B98}"/>
              </a:ext>
            </a:extLst>
          </p:cNvPr>
          <p:cNvSpPr txBox="1"/>
          <p:nvPr/>
        </p:nvSpPr>
        <p:spPr>
          <a:xfrm>
            <a:off x="521360" y="1554480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k-means, Mahalanobis distance and one-class SVM to Bitcoin transaction graphs, surfacing known theft/loss cases without labeled data - validates unsupervised clustering as a base for VECTOR.</a:t>
            </a:r>
            <a:endParaRPr lang="en-US" sz="1050" dirty="0"/>
          </a:p>
        </p:txBody>
      </p:sp>
      <p:sp>
        <p:nvSpPr>
          <p:cNvPr id="17458" name="Shape 8">
            <a:extLst>
              <a:ext uri="{FF2B5EF4-FFF2-40B4-BE49-F238E27FC236}">
                <a16:creationId xmlns:a16="http://schemas.microsoft.com/office/drawing/2014/main" id="{364F54C6-59AA-7667-C237-E90D8B58BC78}"/>
              </a:ext>
            </a:extLst>
          </p:cNvPr>
          <p:cNvSpPr/>
          <p:nvPr/>
        </p:nvSpPr>
        <p:spPr>
          <a:xfrm>
            <a:off x="411632" y="2157984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59" name="Shape 9">
            <a:extLst>
              <a:ext uri="{FF2B5EF4-FFF2-40B4-BE49-F238E27FC236}">
                <a16:creationId xmlns:a16="http://schemas.microsoft.com/office/drawing/2014/main" id="{EAD16887-F03D-6D06-3826-8091FFB32423}"/>
              </a:ext>
            </a:extLst>
          </p:cNvPr>
          <p:cNvSpPr/>
          <p:nvPr/>
        </p:nvSpPr>
        <p:spPr>
          <a:xfrm>
            <a:off x="503072" y="2249424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60" name="Text 10">
            <a:extLst>
              <a:ext uri="{FF2B5EF4-FFF2-40B4-BE49-F238E27FC236}">
                <a16:creationId xmlns:a16="http://schemas.microsoft.com/office/drawing/2014/main" id="{354EEAF8-4B8B-9B55-6B33-2F37D51F2DC4}"/>
              </a:ext>
            </a:extLst>
          </p:cNvPr>
          <p:cNvSpPr txBox="1"/>
          <p:nvPr/>
        </p:nvSpPr>
        <p:spPr>
          <a:xfrm>
            <a:off x="503072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461" name="Text 11">
            <a:extLst>
              <a:ext uri="{FF2B5EF4-FFF2-40B4-BE49-F238E27FC236}">
                <a16:creationId xmlns:a16="http://schemas.microsoft.com/office/drawing/2014/main" id="{DF5191D9-93AF-91CB-CAD6-7C7301A76F67}"/>
              </a:ext>
            </a:extLst>
          </p:cNvPr>
          <p:cNvSpPr txBox="1"/>
          <p:nvPr/>
        </p:nvSpPr>
        <p:spPr>
          <a:xfrm>
            <a:off x="850544" y="2212848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in Bitcoin: Graph Convolutional Networks - Weber et al. (2019)</a:t>
            </a:r>
            <a:endParaRPr lang="en-US" sz="1100" dirty="0"/>
          </a:p>
        </p:txBody>
      </p:sp>
      <p:sp>
        <p:nvSpPr>
          <p:cNvPr id="17462" name="Text 12">
            <a:extLst>
              <a:ext uri="{FF2B5EF4-FFF2-40B4-BE49-F238E27FC236}">
                <a16:creationId xmlns:a16="http://schemas.microsoft.com/office/drawing/2014/main" id="{8199B78F-B6F0-5B50-3A9C-D44363E6CDCA}"/>
              </a:ext>
            </a:extLst>
          </p:cNvPr>
          <p:cNvSpPr txBox="1"/>
          <p:nvPr/>
        </p:nvSpPr>
        <p:spPr>
          <a:xfrm>
            <a:off x="521360" y="2596896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benchmark labeled Elliptic transaction graph and compared GCNs with random forests for illicit-transaction classification - informs VECTOR’s feature design and evaluation.</a:t>
            </a:r>
            <a:endParaRPr lang="en-US" sz="1050" dirty="0"/>
          </a:p>
        </p:txBody>
      </p:sp>
      <p:sp>
        <p:nvSpPr>
          <p:cNvPr id="17463" name="Shape 13">
            <a:extLst>
              <a:ext uri="{FF2B5EF4-FFF2-40B4-BE49-F238E27FC236}">
                <a16:creationId xmlns:a16="http://schemas.microsoft.com/office/drawing/2014/main" id="{2FBFEA19-0795-1B67-CCE7-F5A6CDC7353E}"/>
              </a:ext>
            </a:extLst>
          </p:cNvPr>
          <p:cNvSpPr/>
          <p:nvPr/>
        </p:nvSpPr>
        <p:spPr>
          <a:xfrm>
            <a:off x="411632" y="3200400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64" name="Shape 14">
            <a:extLst>
              <a:ext uri="{FF2B5EF4-FFF2-40B4-BE49-F238E27FC236}">
                <a16:creationId xmlns:a16="http://schemas.microsoft.com/office/drawing/2014/main" id="{66FDE69D-52DF-FA64-36B3-CB82FE9AA7C6}"/>
              </a:ext>
            </a:extLst>
          </p:cNvPr>
          <p:cNvSpPr/>
          <p:nvPr/>
        </p:nvSpPr>
        <p:spPr>
          <a:xfrm>
            <a:off x="503072" y="3291840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65" name="Text 15">
            <a:extLst>
              <a:ext uri="{FF2B5EF4-FFF2-40B4-BE49-F238E27FC236}">
                <a16:creationId xmlns:a16="http://schemas.microsoft.com/office/drawing/2014/main" id="{3EEF99D3-F864-D3D6-1E3F-D2202D52EA1B}"/>
              </a:ext>
            </a:extLst>
          </p:cNvPr>
          <p:cNvSpPr txBox="1"/>
          <p:nvPr/>
        </p:nvSpPr>
        <p:spPr>
          <a:xfrm>
            <a:off x="50307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466" name="Text 16">
            <a:extLst>
              <a:ext uri="{FF2B5EF4-FFF2-40B4-BE49-F238E27FC236}">
                <a16:creationId xmlns:a16="http://schemas.microsoft.com/office/drawing/2014/main" id="{C4CCCEC6-D428-DD5A-D933-91490F7E0B1A}"/>
              </a:ext>
            </a:extLst>
          </p:cNvPr>
          <p:cNvSpPr txBox="1"/>
          <p:nvPr/>
        </p:nvSpPr>
        <p:spPr>
          <a:xfrm>
            <a:off x="850544" y="3255264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Credit Card Fraud Detection using Streaming Analytics - Rajeshwari &amp; Sathish Babu (2016)</a:t>
            </a:r>
            <a:endParaRPr lang="en-US" sz="1100" dirty="0"/>
          </a:p>
        </p:txBody>
      </p:sp>
      <p:sp>
        <p:nvSpPr>
          <p:cNvPr id="17467" name="Text 17">
            <a:extLst>
              <a:ext uri="{FF2B5EF4-FFF2-40B4-BE49-F238E27FC236}">
                <a16:creationId xmlns:a16="http://schemas.microsoft.com/office/drawing/2014/main" id="{50D7D89F-3F20-57D0-31BA-E77E198B09D5}"/>
              </a:ext>
            </a:extLst>
          </p:cNvPr>
          <p:cNvSpPr txBox="1"/>
          <p:nvPr/>
        </p:nvSpPr>
        <p:spPr>
          <a:xfrm>
            <a:off x="521360" y="3639312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analytics combined with Hidden Markov Models achieved 75–85% detection accuracy  supports VECTOR’s real-time behavioral scoring pipeline.</a:t>
            </a:r>
            <a:endParaRPr lang="en-US" sz="1050" dirty="0"/>
          </a:p>
        </p:txBody>
      </p:sp>
      <p:sp>
        <p:nvSpPr>
          <p:cNvPr id="17468" name="Shape 18">
            <a:extLst>
              <a:ext uri="{FF2B5EF4-FFF2-40B4-BE49-F238E27FC236}">
                <a16:creationId xmlns:a16="http://schemas.microsoft.com/office/drawing/2014/main" id="{6695D0B4-0924-19B8-9E80-2CD59AC4E793}"/>
              </a:ext>
            </a:extLst>
          </p:cNvPr>
          <p:cNvSpPr/>
          <p:nvPr/>
        </p:nvSpPr>
        <p:spPr>
          <a:xfrm>
            <a:off x="411632" y="4242816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69" name="Shape 19">
            <a:extLst>
              <a:ext uri="{FF2B5EF4-FFF2-40B4-BE49-F238E27FC236}">
                <a16:creationId xmlns:a16="http://schemas.microsoft.com/office/drawing/2014/main" id="{00343EF9-78AC-F1EC-408B-24D3F4E2DDCF}"/>
              </a:ext>
            </a:extLst>
          </p:cNvPr>
          <p:cNvSpPr/>
          <p:nvPr/>
        </p:nvSpPr>
        <p:spPr>
          <a:xfrm>
            <a:off x="503072" y="4334256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70" name="Text 20">
            <a:extLst>
              <a:ext uri="{FF2B5EF4-FFF2-40B4-BE49-F238E27FC236}">
                <a16:creationId xmlns:a16="http://schemas.microsoft.com/office/drawing/2014/main" id="{829C2194-14C4-FF5E-B819-F3399313AEAC}"/>
              </a:ext>
            </a:extLst>
          </p:cNvPr>
          <p:cNvSpPr txBox="1"/>
          <p:nvPr/>
        </p:nvSpPr>
        <p:spPr>
          <a:xfrm>
            <a:off x="503072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471" name="Text 21">
            <a:extLst>
              <a:ext uri="{FF2B5EF4-FFF2-40B4-BE49-F238E27FC236}">
                <a16:creationId xmlns:a16="http://schemas.microsoft.com/office/drawing/2014/main" id="{2A5B7EE1-1293-60D8-159B-07156191F20A}"/>
              </a:ext>
            </a:extLst>
          </p:cNvPr>
          <p:cNvSpPr txBox="1"/>
          <p:nvPr/>
        </p:nvSpPr>
        <p:spPr>
          <a:xfrm>
            <a:off x="850544" y="4297680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using State-of-the-Art ML &amp; DL - Alarfaj et al. (2022)</a:t>
            </a:r>
            <a:endParaRPr lang="en-US" sz="1100" dirty="0"/>
          </a:p>
        </p:txBody>
      </p:sp>
      <p:sp>
        <p:nvSpPr>
          <p:cNvPr id="17472" name="Text 22">
            <a:extLst>
              <a:ext uri="{FF2B5EF4-FFF2-40B4-BE49-F238E27FC236}">
                <a16:creationId xmlns:a16="http://schemas.microsoft.com/office/drawing/2014/main" id="{D00F6E12-5B29-2080-7A55-493EE7D0A6C7}"/>
              </a:ext>
            </a:extLst>
          </p:cNvPr>
          <p:cNvSpPr txBox="1"/>
          <p:nvPr/>
        </p:nvSpPr>
        <p:spPr>
          <a:xfrm>
            <a:off x="521360" y="4681728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false positives a key limitation of existing models; gradient boosting emerged as the strongest ML approach - guided VECTOR’s choice of XGBoost.</a:t>
            </a:r>
            <a:endParaRPr lang="en-US" sz="1050" dirty="0"/>
          </a:p>
        </p:txBody>
      </p:sp>
      <p:sp>
        <p:nvSpPr>
          <p:cNvPr id="17473" name="Shape 23">
            <a:extLst>
              <a:ext uri="{FF2B5EF4-FFF2-40B4-BE49-F238E27FC236}">
                <a16:creationId xmlns:a16="http://schemas.microsoft.com/office/drawing/2014/main" id="{C0072879-D4C9-8D60-073F-5E55C71A745C}"/>
              </a:ext>
            </a:extLst>
          </p:cNvPr>
          <p:cNvSpPr/>
          <p:nvPr/>
        </p:nvSpPr>
        <p:spPr>
          <a:xfrm>
            <a:off x="411632" y="5285232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74" name="Shape 24">
            <a:extLst>
              <a:ext uri="{FF2B5EF4-FFF2-40B4-BE49-F238E27FC236}">
                <a16:creationId xmlns:a16="http://schemas.microsoft.com/office/drawing/2014/main" id="{CA779126-98AD-7FD4-FBF5-2E4449CFFEC9}"/>
              </a:ext>
            </a:extLst>
          </p:cNvPr>
          <p:cNvSpPr/>
          <p:nvPr/>
        </p:nvSpPr>
        <p:spPr>
          <a:xfrm>
            <a:off x="503072" y="5376672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75" name="Text 25">
            <a:extLst>
              <a:ext uri="{FF2B5EF4-FFF2-40B4-BE49-F238E27FC236}">
                <a16:creationId xmlns:a16="http://schemas.microsoft.com/office/drawing/2014/main" id="{4FB11B87-FB4D-4B48-B465-EE74F7FC15F5}"/>
              </a:ext>
            </a:extLst>
          </p:cNvPr>
          <p:cNvSpPr txBox="1"/>
          <p:nvPr/>
        </p:nvSpPr>
        <p:spPr>
          <a:xfrm>
            <a:off x="503072" y="5376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476" name="Text 26">
            <a:extLst>
              <a:ext uri="{FF2B5EF4-FFF2-40B4-BE49-F238E27FC236}">
                <a16:creationId xmlns:a16="http://schemas.microsoft.com/office/drawing/2014/main" id="{63640049-04AE-0DE2-CE2A-4CF5DE8349B8}"/>
              </a:ext>
            </a:extLst>
          </p:cNvPr>
          <p:cNvSpPr txBox="1"/>
          <p:nvPr/>
        </p:nvSpPr>
        <p:spPr>
          <a:xfrm>
            <a:off x="850544" y="5340096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Anomalies in Blockchain Transactions using ML Classifiers &amp; Explainability - ScienceDirect (2024)</a:t>
            </a:r>
            <a:endParaRPr lang="en-US" sz="1100" dirty="0"/>
          </a:p>
        </p:txBody>
      </p:sp>
      <p:sp>
        <p:nvSpPr>
          <p:cNvPr id="17477" name="Text 27">
            <a:extLst>
              <a:ext uri="{FF2B5EF4-FFF2-40B4-BE49-F238E27FC236}">
                <a16:creationId xmlns:a16="http://schemas.microsoft.com/office/drawing/2014/main" id="{6F41FFA1-EE1F-0A49-275D-989A0E5CB955}"/>
              </a:ext>
            </a:extLst>
          </p:cNvPr>
          <p:cNvSpPr txBox="1"/>
          <p:nvPr/>
        </p:nvSpPr>
        <p:spPr>
          <a:xfrm>
            <a:off x="521360" y="5724144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classifiers combined with SHAP explainability improved both accuracy and analyst trust — directly supports VECTOR’s explainable investigative leads.</a:t>
            </a:r>
            <a:endParaRPr lang="en-US" sz="1050" dirty="0"/>
          </a:p>
        </p:txBody>
      </p:sp>
      <p:sp>
        <p:nvSpPr>
          <p:cNvPr id="17478" name="Shape 28">
            <a:extLst>
              <a:ext uri="{FF2B5EF4-FFF2-40B4-BE49-F238E27FC236}">
                <a16:creationId xmlns:a16="http://schemas.microsoft.com/office/drawing/2014/main" id="{D52F7C41-C2E7-4B99-3AD2-D3E42999C013}"/>
              </a:ext>
            </a:extLst>
          </p:cNvPr>
          <p:cNvSpPr/>
          <p:nvPr/>
        </p:nvSpPr>
        <p:spPr>
          <a:xfrm>
            <a:off x="6205728" y="1115568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79" name="Shape 29">
            <a:extLst>
              <a:ext uri="{FF2B5EF4-FFF2-40B4-BE49-F238E27FC236}">
                <a16:creationId xmlns:a16="http://schemas.microsoft.com/office/drawing/2014/main" id="{2C86D45D-C7B4-A5FC-D9C6-240CF1E0DD43}"/>
              </a:ext>
            </a:extLst>
          </p:cNvPr>
          <p:cNvSpPr/>
          <p:nvPr/>
        </p:nvSpPr>
        <p:spPr>
          <a:xfrm>
            <a:off x="6297168" y="1207008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80" name="Text 30">
            <a:extLst>
              <a:ext uri="{FF2B5EF4-FFF2-40B4-BE49-F238E27FC236}">
                <a16:creationId xmlns:a16="http://schemas.microsoft.com/office/drawing/2014/main" id="{88C478EE-4536-9D52-FAC7-85A90A947AAA}"/>
              </a:ext>
            </a:extLst>
          </p:cNvPr>
          <p:cNvSpPr txBox="1"/>
          <p:nvPr/>
        </p:nvSpPr>
        <p:spPr>
          <a:xfrm>
            <a:off x="6297168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481" name="Text 31">
            <a:extLst>
              <a:ext uri="{FF2B5EF4-FFF2-40B4-BE49-F238E27FC236}">
                <a16:creationId xmlns:a16="http://schemas.microsoft.com/office/drawing/2014/main" id="{C9161F89-5D41-8DF3-0AE9-477FBA5C3444}"/>
              </a:ext>
            </a:extLst>
          </p:cNvPr>
          <p:cNvSpPr txBox="1"/>
          <p:nvPr/>
        </p:nvSpPr>
        <p:spPr>
          <a:xfrm>
            <a:off x="6644640" y="1170432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 for User &amp; Entity Behavior Analytics — Artioli, Maci &amp; Magrì (2024)</a:t>
            </a:r>
            <a:endParaRPr lang="en-US" sz="1100" dirty="0"/>
          </a:p>
        </p:txBody>
      </p:sp>
      <p:sp>
        <p:nvSpPr>
          <p:cNvPr id="17482" name="Text 32">
            <a:extLst>
              <a:ext uri="{FF2B5EF4-FFF2-40B4-BE49-F238E27FC236}">
                <a16:creationId xmlns:a16="http://schemas.microsoft.com/office/drawing/2014/main" id="{F333F0C7-5B00-9EB1-CC27-55252F98B6E1}"/>
              </a:ext>
            </a:extLst>
          </p:cNvPr>
          <p:cNvSpPr txBox="1"/>
          <p:nvPr/>
        </p:nvSpPr>
        <p:spPr>
          <a:xfrm>
            <a:off x="6315456" y="1554480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fifteen clustering algorithms for behavior analytics; HDBSCAN performed strongly on density-based behavioral grouping — validates VECTOR’s clustering choice.</a:t>
            </a:r>
            <a:endParaRPr lang="en-US" sz="1050" dirty="0"/>
          </a:p>
        </p:txBody>
      </p:sp>
      <p:sp>
        <p:nvSpPr>
          <p:cNvPr id="17483" name="Shape 33">
            <a:extLst>
              <a:ext uri="{FF2B5EF4-FFF2-40B4-BE49-F238E27FC236}">
                <a16:creationId xmlns:a16="http://schemas.microsoft.com/office/drawing/2014/main" id="{867C2DC5-D386-24A0-DCB7-BF4F58585A06}"/>
              </a:ext>
            </a:extLst>
          </p:cNvPr>
          <p:cNvSpPr/>
          <p:nvPr/>
        </p:nvSpPr>
        <p:spPr>
          <a:xfrm>
            <a:off x="6205728" y="2157984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84" name="Shape 34">
            <a:extLst>
              <a:ext uri="{FF2B5EF4-FFF2-40B4-BE49-F238E27FC236}">
                <a16:creationId xmlns:a16="http://schemas.microsoft.com/office/drawing/2014/main" id="{2356DFF4-4B16-95FB-7389-886B388C9F67}"/>
              </a:ext>
            </a:extLst>
          </p:cNvPr>
          <p:cNvSpPr/>
          <p:nvPr/>
        </p:nvSpPr>
        <p:spPr>
          <a:xfrm>
            <a:off x="6297168" y="2249424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85" name="Text 35">
            <a:extLst>
              <a:ext uri="{FF2B5EF4-FFF2-40B4-BE49-F238E27FC236}">
                <a16:creationId xmlns:a16="http://schemas.microsoft.com/office/drawing/2014/main" id="{330AA6F3-DB76-196B-22C6-A50ADD82D43C}"/>
              </a:ext>
            </a:extLst>
          </p:cNvPr>
          <p:cNvSpPr txBox="1"/>
          <p:nvPr/>
        </p:nvSpPr>
        <p:spPr>
          <a:xfrm>
            <a:off x="6297168" y="2249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7486" name="Text 36">
            <a:extLst>
              <a:ext uri="{FF2B5EF4-FFF2-40B4-BE49-F238E27FC236}">
                <a16:creationId xmlns:a16="http://schemas.microsoft.com/office/drawing/2014/main" id="{B8226D3B-9630-F859-ECBE-7EE07312E51B}"/>
              </a:ext>
            </a:extLst>
          </p:cNvPr>
          <p:cNvSpPr txBox="1"/>
          <p:nvPr/>
        </p:nvSpPr>
        <p:spPr>
          <a:xfrm>
            <a:off x="6644640" y="2212848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Heuristic-Based Address Clustering for Bitcoin — Schnoering, Porthaux &amp; Vazirgiannis (2024)</a:t>
            </a:r>
            <a:endParaRPr lang="en-US" sz="1100" dirty="0"/>
          </a:p>
        </p:txBody>
      </p:sp>
      <p:sp>
        <p:nvSpPr>
          <p:cNvPr id="17487" name="Text 37">
            <a:extLst>
              <a:ext uri="{FF2B5EF4-FFF2-40B4-BE49-F238E27FC236}">
                <a16:creationId xmlns:a16="http://schemas.microsoft.com/office/drawing/2014/main" id="{63053F30-E7CA-D56C-D5BB-F8A9184CEEEE}"/>
              </a:ext>
            </a:extLst>
          </p:cNvPr>
          <p:cNvSpPr txBox="1"/>
          <p:nvPr/>
        </p:nvSpPr>
        <p:spPr>
          <a:xfrm>
            <a:off x="6315456" y="2596896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heuristics for grouping Bitcoin addresses into real-world entities and introduced a clustering-ratio metric — informs VECTOR’s entity-profiling step.</a:t>
            </a:r>
            <a:endParaRPr lang="en-US" sz="1050" dirty="0"/>
          </a:p>
        </p:txBody>
      </p:sp>
      <p:sp>
        <p:nvSpPr>
          <p:cNvPr id="17488" name="Shape 38">
            <a:extLst>
              <a:ext uri="{FF2B5EF4-FFF2-40B4-BE49-F238E27FC236}">
                <a16:creationId xmlns:a16="http://schemas.microsoft.com/office/drawing/2014/main" id="{DD990839-7ED7-E3E9-8816-C4587BF6B153}"/>
              </a:ext>
            </a:extLst>
          </p:cNvPr>
          <p:cNvSpPr/>
          <p:nvPr/>
        </p:nvSpPr>
        <p:spPr>
          <a:xfrm>
            <a:off x="6205728" y="3200400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89" name="Shape 39">
            <a:extLst>
              <a:ext uri="{FF2B5EF4-FFF2-40B4-BE49-F238E27FC236}">
                <a16:creationId xmlns:a16="http://schemas.microsoft.com/office/drawing/2014/main" id="{F8F7D8C6-5727-F70B-1C97-A58F9F3A0D26}"/>
              </a:ext>
            </a:extLst>
          </p:cNvPr>
          <p:cNvSpPr/>
          <p:nvPr/>
        </p:nvSpPr>
        <p:spPr>
          <a:xfrm>
            <a:off x="6297168" y="3291840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90" name="Text 40">
            <a:extLst>
              <a:ext uri="{FF2B5EF4-FFF2-40B4-BE49-F238E27FC236}">
                <a16:creationId xmlns:a16="http://schemas.microsoft.com/office/drawing/2014/main" id="{915D6B5C-88FE-5FFB-8405-5B1A4C2E5A0E}"/>
              </a:ext>
            </a:extLst>
          </p:cNvPr>
          <p:cNvSpPr txBox="1"/>
          <p:nvPr/>
        </p:nvSpPr>
        <p:spPr>
          <a:xfrm>
            <a:off x="6297168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7491" name="Text 41">
            <a:extLst>
              <a:ext uri="{FF2B5EF4-FFF2-40B4-BE49-F238E27FC236}">
                <a16:creationId xmlns:a16="http://schemas.microsoft.com/office/drawing/2014/main" id="{9B22D518-F765-958A-5014-EE73C8C0D698}"/>
              </a:ext>
            </a:extLst>
          </p:cNvPr>
          <p:cNvSpPr txBox="1"/>
          <p:nvPr/>
        </p:nvSpPr>
        <p:spPr>
          <a:xfrm>
            <a:off x="6644640" y="3255264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Liu, Ting &amp; Zhou (2008)</a:t>
            </a:r>
            <a:endParaRPr lang="en-US" sz="1100" dirty="0"/>
          </a:p>
        </p:txBody>
      </p:sp>
      <p:sp>
        <p:nvSpPr>
          <p:cNvPr id="17492" name="Text 42">
            <a:extLst>
              <a:ext uri="{FF2B5EF4-FFF2-40B4-BE49-F238E27FC236}">
                <a16:creationId xmlns:a16="http://schemas.microsoft.com/office/drawing/2014/main" id="{2C84F3FD-9E3A-7480-1155-D693A748D4C7}"/>
              </a:ext>
            </a:extLst>
          </p:cNvPr>
          <p:cNvSpPr txBox="1"/>
          <p:nvPr/>
        </p:nvSpPr>
        <p:spPr>
          <a:xfrm>
            <a:off x="6315456" y="3639312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isolation-based anomaly detection, isolating anomalies through random partitioning instead of profiling normal points — the foundation of VECTOR’s detection layer.</a:t>
            </a:r>
            <a:endParaRPr lang="en-US" sz="1050" dirty="0"/>
          </a:p>
        </p:txBody>
      </p:sp>
      <p:sp>
        <p:nvSpPr>
          <p:cNvPr id="17493" name="Shape 43">
            <a:extLst>
              <a:ext uri="{FF2B5EF4-FFF2-40B4-BE49-F238E27FC236}">
                <a16:creationId xmlns:a16="http://schemas.microsoft.com/office/drawing/2014/main" id="{0A235E0D-88F0-48D2-ED12-2B7FA582987B}"/>
              </a:ext>
            </a:extLst>
          </p:cNvPr>
          <p:cNvSpPr/>
          <p:nvPr/>
        </p:nvSpPr>
        <p:spPr>
          <a:xfrm>
            <a:off x="6205728" y="4242816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94" name="Shape 44">
            <a:extLst>
              <a:ext uri="{FF2B5EF4-FFF2-40B4-BE49-F238E27FC236}">
                <a16:creationId xmlns:a16="http://schemas.microsoft.com/office/drawing/2014/main" id="{FCCA41C6-2E45-E851-6DF2-4F10915E57A6}"/>
              </a:ext>
            </a:extLst>
          </p:cNvPr>
          <p:cNvSpPr/>
          <p:nvPr/>
        </p:nvSpPr>
        <p:spPr>
          <a:xfrm>
            <a:off x="6297168" y="4334256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95" name="Text 45">
            <a:extLst>
              <a:ext uri="{FF2B5EF4-FFF2-40B4-BE49-F238E27FC236}">
                <a16:creationId xmlns:a16="http://schemas.microsoft.com/office/drawing/2014/main" id="{6BA267B5-6E12-A17F-8804-35B4DBED2860}"/>
              </a:ext>
            </a:extLst>
          </p:cNvPr>
          <p:cNvSpPr txBox="1"/>
          <p:nvPr/>
        </p:nvSpPr>
        <p:spPr>
          <a:xfrm>
            <a:off x="6297168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7496" name="Text 46">
            <a:extLst>
              <a:ext uri="{FF2B5EF4-FFF2-40B4-BE49-F238E27FC236}">
                <a16:creationId xmlns:a16="http://schemas.microsoft.com/office/drawing/2014/main" id="{096794CA-24F6-4D1C-D43E-22D4C23F56C6}"/>
              </a:ext>
            </a:extLst>
          </p:cNvPr>
          <p:cNvSpPr txBox="1"/>
          <p:nvPr/>
        </p:nvSpPr>
        <p:spPr>
          <a:xfrm>
            <a:off x="6644640" y="4297680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A Scalable Tree Boosting System — Chen &amp; Guestrin (2016)</a:t>
            </a:r>
            <a:endParaRPr lang="en-US" sz="1100" dirty="0"/>
          </a:p>
        </p:txBody>
      </p:sp>
      <p:sp>
        <p:nvSpPr>
          <p:cNvPr id="17497" name="Text 47">
            <a:extLst>
              <a:ext uri="{FF2B5EF4-FFF2-40B4-BE49-F238E27FC236}">
                <a16:creationId xmlns:a16="http://schemas.microsoft.com/office/drawing/2014/main" id="{11584547-9145-CFF5-FFFE-6FD12E41B8EE}"/>
              </a:ext>
            </a:extLst>
          </p:cNvPr>
          <p:cNvSpPr txBox="1"/>
          <p:nvPr/>
        </p:nvSpPr>
        <p:spPr>
          <a:xfrm>
            <a:off x="6315456" y="4681728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sparsity-aware, highly scalable gradient boosting framework — the basis for VECTOR’s cold-start fallback model.</a:t>
            </a:r>
            <a:endParaRPr lang="en-US" sz="1050" dirty="0"/>
          </a:p>
        </p:txBody>
      </p:sp>
      <p:sp>
        <p:nvSpPr>
          <p:cNvPr id="17498" name="Shape 48">
            <a:extLst>
              <a:ext uri="{FF2B5EF4-FFF2-40B4-BE49-F238E27FC236}">
                <a16:creationId xmlns:a16="http://schemas.microsoft.com/office/drawing/2014/main" id="{C65525BB-0469-7540-4C64-2852F6355AF0}"/>
              </a:ext>
            </a:extLst>
          </p:cNvPr>
          <p:cNvSpPr/>
          <p:nvPr/>
        </p:nvSpPr>
        <p:spPr>
          <a:xfrm>
            <a:off x="6205728" y="5285232"/>
            <a:ext cx="5574640" cy="950976"/>
          </a:xfrm>
          <a:prstGeom prst="roundRect">
            <a:avLst>
              <a:gd name="adj" fmla="val 3846"/>
            </a:avLst>
          </a:prstGeom>
          <a:solidFill>
            <a:srgbClr val="E7EEF5"/>
          </a:solidFill>
          <a:ln w="9525">
            <a:solidFill>
              <a:srgbClr val="C7D2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499" name="Shape 49">
            <a:extLst>
              <a:ext uri="{FF2B5EF4-FFF2-40B4-BE49-F238E27FC236}">
                <a16:creationId xmlns:a16="http://schemas.microsoft.com/office/drawing/2014/main" id="{B9075BF6-776A-184F-9267-25E869261ADB}"/>
              </a:ext>
            </a:extLst>
          </p:cNvPr>
          <p:cNvSpPr/>
          <p:nvPr/>
        </p:nvSpPr>
        <p:spPr>
          <a:xfrm>
            <a:off x="6297168" y="5376672"/>
            <a:ext cx="256032" cy="25603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7500" name="Text 50">
            <a:extLst>
              <a:ext uri="{FF2B5EF4-FFF2-40B4-BE49-F238E27FC236}">
                <a16:creationId xmlns:a16="http://schemas.microsoft.com/office/drawing/2014/main" id="{4BBDB7CD-2F1E-BB98-EEEB-244CA565A6FB}"/>
              </a:ext>
            </a:extLst>
          </p:cNvPr>
          <p:cNvSpPr txBox="1"/>
          <p:nvPr/>
        </p:nvSpPr>
        <p:spPr>
          <a:xfrm>
            <a:off x="6297168" y="5376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501" name="Text 51">
            <a:extLst>
              <a:ext uri="{FF2B5EF4-FFF2-40B4-BE49-F238E27FC236}">
                <a16:creationId xmlns:a16="http://schemas.microsoft.com/office/drawing/2014/main" id="{C165C21B-02F0-3B94-C906-562FA2C1B8A2}"/>
              </a:ext>
            </a:extLst>
          </p:cNvPr>
          <p:cNvSpPr txBox="1"/>
          <p:nvPr/>
        </p:nvSpPr>
        <p:spPr>
          <a:xfrm>
            <a:off x="6644640" y="5340096"/>
            <a:ext cx="500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in Digital Banking: Event Streaming Architecture — Mula (2025)</a:t>
            </a:r>
            <a:endParaRPr lang="en-US" sz="1100" dirty="0"/>
          </a:p>
        </p:txBody>
      </p:sp>
      <p:sp>
        <p:nvSpPr>
          <p:cNvPr id="17502" name="Text 52">
            <a:extLst>
              <a:ext uri="{FF2B5EF4-FFF2-40B4-BE49-F238E27FC236}">
                <a16:creationId xmlns:a16="http://schemas.microsoft.com/office/drawing/2014/main" id="{30494ED9-1479-CAD1-9F6A-1B2CD48807D2}"/>
              </a:ext>
            </a:extLst>
          </p:cNvPr>
          <p:cNvSpPr txBox="1"/>
          <p:nvPr/>
        </p:nvSpPr>
        <p:spPr>
          <a:xfrm>
            <a:off x="6315456" y="5724144"/>
            <a:ext cx="53551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Kafka, Redis and embedding-based anomaly detection for millisecond-level risk scoring — mirrors VECTOR’s real-time streaming pipeline design.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4B"/>
                </a:solidFill>
              </a:defRPr>
            </a:pPr>
            <a:r>
              <a:t>Implementation Status - 10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6"/>
              </a:spcAft>
              <a:defRPr/>
            </a:pPr>
            <a:r>
              <a:t>This deck is an SIH proposal/submission artifact. Earlier capability and impact claims describe proposed work, not verification results.</a:t>
            </a:r>
          </a:p>
          <a:p>
            <a:pPr/>
            <a:r>
              <a:t>Current repository scope: React/TypeScript dashboard, Express REST and Socket.IO server, MongoDB persistence, and Python Bitcoin analytics.</a:t>
            </a:r>
          </a:p>
          <a:p>
            <a:pPr/>
            <a:r>
              <a:t>Seeded records are synthetic and tagged SIMULATION. No live Bitcoin Core connection or cloud deployment is verified.</a:t>
            </a:r>
          </a:p>
          <a:p>
            <a:pPr/>
            <a:r>
              <a:t>Fresh Python 3.12.14 environment installed requirements.txt; pip check passed. Backend/bitcoin tests: 60 passed, 7 subtests. One upstream XGBoost serialized-model compatibility warning remains; scikit-learn artifacts are pinned to 1.7.1.</a:t>
            </a:r>
          </a:p>
          <a:p>
            <a:pPr/>
            <a:r>
              <a:t>Frontend clean npm ci passed with zero reported vulnerabilities; five Node security tests passed. Lint has zero errors and three React Fast Refresh warnings. Production build passes; largest JS chunk is 304.36 kB (100.37 kB gzip) after route/tab splitting.</a:t>
            </a:r>
          </a:p>
          <a:p>
            <a:pPr/>
            <a:r>
              <a:t>Local safe HTTP smoke passed six checks on an app backed by temporary in-memory MongoDB 8.2.6. A guarded integration smoke passed one synthetic transaction through Express and Python analysis, MongoDB retrieval by txid, and the matching Socket.IO event.</a:t>
            </a:r>
          </a:p>
          <a:p>
            <a:pPr/>
            <a:r>
              <a:t>Not verified: durable/managed MongoDB restart recovery, Docker/Compose startup, hosting, live Bitcoin Core connectivity, representative performance, or detection quality on an independent labeled set. Current verdict: NO-GO. See AUDIT/GO_NO_GO.md and AUDIT/VALIDATION_RESULTS.md.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8742</TotalTime>
  <Words>778</Words>
  <Application>Microsoft Office PowerPoint</Application>
  <PresentationFormat>Widescreen</PresentationFormat>
  <Paragraphs>152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Tahoma</vt:lpstr>
      <vt:lpstr>Times New Roman</vt:lpstr>
      <vt:lpstr>TradeGothic</vt:lpstr>
      <vt:lpstr>Office Theme</vt:lpstr>
      <vt:lpstr>SMART INDIA HACKATHON 2026</vt:lpstr>
      <vt:lpstr>FROM TRANSACTION TRAFFIC TO INVESTIGATIVE LEADS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Chirag Hariprasad</cp:lastModifiedBy>
  <cp:revision>154</cp:revision>
  <cp:lastPrinted>2026-09-18T19:29:02Z</cp:lastPrinted>
  <dcterms:created xsi:type="dcterms:W3CDTF">2013-12-12T18:46:50Z</dcterms:created>
  <dcterms:modified xsi:type="dcterms:W3CDTF">2026-10-03T20:10:32Z</dcterms:modified>
  <cp:category/>
</cp:coreProperties>
</file>